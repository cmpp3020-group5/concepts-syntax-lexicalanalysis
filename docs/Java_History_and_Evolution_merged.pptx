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8D6FFD4-061A-938B-8D46-CD6A0616E19F}">
          <p14:sldIdLst>
            <p14:sldId id="256"/>
            <p14:sldId id="257"/>
          </p14:sldIdLst>
        </p14:section>
        <p14:section name="History" id="{CFDC4AF7-61A8-3965-5237-F9A3A32B28F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oday" id="{EFF51223-8655-998E-79E1-6B0BA30BEC9F}">
          <p14:sldIdLst>
            <p14:sldId id="265"/>
            <p14:sldId id="268"/>
          </p14:sldIdLst>
        </p14:section>
        <p14:section name="Wrap-up" id="{BEA5C9C6-B033-ED4F-6D75-13C490CF6EF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1" autoAdjust="0"/>
  </p:normalViewPr>
  <p:slideViewPr>
    <p:cSldViewPr snapToGrid="0" snapToObjects="1">
      <p:cViewPr varScale="1">
        <p:scale>
          <a:sx n="78" d="100"/>
          <a:sy n="78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58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3949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2608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The History and Evolution of Java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The History and Evolution of Java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26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From the Green Project to Java 27 and beyond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Assignment: Concepts, Syntax, Lexical Analysis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Mohammad Khazaeli, Jason Wu, Jiao Wang, Karina Chiste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6492240" y="128016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Coffe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28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Java: A Brief Overview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Icon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CalendarA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 1995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-Announced by Sun Microsystems to the public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-Designed by James Gosling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Icon circle"/>
          <p:cNvSpPr/>
          <p:nvPr/>
        </p:nvSpPr>
        <p:spPr>
          <a:xfrm>
            <a:off x="35661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1" descr="Sync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Editions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-Java Card</a:t>
            </a:r>
          </a:p>
          <a:p>
            <a:pPr marL="0" indent="0">
              <a:buNone/>
            </a:pPr>
            <a:r>
              <a:rPr lang="en-US" sz="1400" dirty="0"/>
              <a:t>-Java Platform, Micro Ed</a:t>
            </a:r>
          </a:p>
          <a:p>
            <a:pPr marL="0" indent="0">
              <a:buNone/>
            </a:pPr>
            <a:r>
              <a:rPr lang="en-US" sz="1400" dirty="0"/>
              <a:t>-Java Platform, Standard Ed</a:t>
            </a:r>
          </a:p>
          <a:p>
            <a:pPr marL="0" indent="0">
              <a:buNone/>
            </a:pPr>
            <a:r>
              <a:rPr lang="en-US" sz="1400" dirty="0"/>
              <a:t>-Java Platform, Enterprise Ed</a:t>
            </a:r>
          </a:p>
        </p:txBody>
      </p:sp>
      <p:sp>
        <p:nvSpPr>
          <p:cNvPr id="13" name="Stat card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Icon circle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Rock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7145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Java 27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54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-Last stable version, released September 15,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Timeline: The Green Project</a:t>
            </a:r>
            <a:endParaRPr lang="en-US" sz="3600" dirty="0"/>
          </a:p>
        </p:txBody>
      </p:sp>
      <p:sp>
        <p:nvSpPr>
          <p:cNvPr id="3" name="Chip"/>
          <p:cNvSpPr/>
          <p:nvPr/>
        </p:nvSpPr>
        <p:spPr>
          <a:xfrm>
            <a:off x="457200" y="128016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1991</a:t>
            </a:r>
            <a:endParaRPr lang="en-US" sz="1400" dirty="0"/>
          </a:p>
        </p:txBody>
      </p:sp>
      <p:sp>
        <p:nvSpPr>
          <p:cNvPr id="4" name="Row card"/>
          <p:cNvSpPr/>
          <p:nvPr/>
        </p:nvSpPr>
        <p:spPr>
          <a:xfrm>
            <a:off x="1965960" y="1280160"/>
            <a:ext cx="67208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 txBox="1"/>
          <p:nvPr/>
        </p:nvSpPr>
        <p:spPr>
          <a:xfrm>
            <a:off x="2103120" y="1297858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Start of The Green Project. </a:t>
            </a:r>
            <a:r>
              <a:rPr lang="en-US" sz="1400" dirty="0">
                <a:solidFill>
                  <a:schemeClr val="tx1"/>
                </a:solidFill>
              </a:rPr>
              <a:t>James Gosling, Mike Sheridan and Patrick Naughton supervised a team of engineers to explore a new technology. The project aimed to build a software that can run on different types of hardware and can allow electronic devices to communicate in a heterogenous network. </a:t>
            </a:r>
            <a:endParaRPr lang="en-US" sz="1400" dirty="0"/>
          </a:p>
        </p:txBody>
      </p:sp>
      <p:sp>
        <p:nvSpPr>
          <p:cNvPr id="6" name="Chip"/>
          <p:cNvSpPr/>
          <p:nvPr/>
        </p:nvSpPr>
        <p:spPr>
          <a:xfrm>
            <a:off x="457200" y="210312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1992-93</a:t>
            </a:r>
            <a:endParaRPr lang="en-US" sz="1400" dirty="0"/>
          </a:p>
        </p:txBody>
      </p:sp>
      <p:sp>
        <p:nvSpPr>
          <p:cNvPr id="7" name="Row card"/>
          <p:cNvSpPr/>
          <p:nvPr/>
        </p:nvSpPr>
        <p:spPr>
          <a:xfrm>
            <a:off x="1965960" y="2103120"/>
            <a:ext cx="67208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 txBox="1"/>
          <p:nvPr/>
        </p:nvSpPr>
        <p:spPr>
          <a:xfrm>
            <a:off x="2103120" y="2103120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language "Oak" is built for the project. </a:t>
            </a:r>
            <a:r>
              <a:rPr lang="en-US" sz="1400" dirty="0">
                <a:solidFill>
                  <a:schemeClr val="tx1"/>
                </a:solidFill>
              </a:rPr>
              <a:t>Named after a tree that stood outside Gosling’s office</a:t>
            </a:r>
            <a:r>
              <a:rPr lang="en-US" sz="1400" dirty="0"/>
              <a:t>. Originally, the team wanted to use C++ for the project, but it wasn’t sufficient for memory management and was too complex to use. </a:t>
            </a:r>
          </a:p>
        </p:txBody>
      </p:sp>
      <p:sp>
        <p:nvSpPr>
          <p:cNvPr id="9" name="Chip"/>
          <p:cNvSpPr/>
          <p:nvPr/>
        </p:nvSpPr>
        <p:spPr>
          <a:xfrm>
            <a:off x="457200" y="292608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Jan 1995</a:t>
            </a:r>
            <a:endParaRPr lang="en-US" sz="1400" dirty="0"/>
          </a:p>
        </p:txBody>
      </p:sp>
      <p:sp>
        <p:nvSpPr>
          <p:cNvPr id="10" name="Row card"/>
          <p:cNvSpPr/>
          <p:nvPr/>
        </p:nvSpPr>
        <p:spPr>
          <a:xfrm>
            <a:off x="1965960" y="2926080"/>
            <a:ext cx="67208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 txBox="1"/>
          <p:nvPr/>
        </p:nvSpPr>
        <p:spPr>
          <a:xfrm>
            <a:off x="2103120" y="2926080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“Oak” is renamed to “Java”. </a:t>
            </a:r>
            <a:r>
              <a:rPr lang="en-US" sz="1400" dirty="0"/>
              <a:t>This happened because of a trademark conflict with Oak technologies. They chose Java because it was catchy and unique. Java refers to Java Island in Indonesia where it plays major role in coffee trading.</a:t>
            </a:r>
          </a:p>
        </p:txBody>
      </p:sp>
      <p:sp>
        <p:nvSpPr>
          <p:cNvPr id="12" name="Chip"/>
          <p:cNvSpPr/>
          <p:nvPr/>
        </p:nvSpPr>
        <p:spPr>
          <a:xfrm>
            <a:off x="457200" y="374904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May 1995</a:t>
            </a:r>
            <a:endParaRPr lang="en-US" sz="1400" dirty="0"/>
          </a:p>
        </p:txBody>
      </p:sp>
      <p:sp>
        <p:nvSpPr>
          <p:cNvPr id="13" name="Row card"/>
          <p:cNvSpPr/>
          <p:nvPr/>
        </p:nvSpPr>
        <p:spPr>
          <a:xfrm>
            <a:off x="1965960" y="3749040"/>
            <a:ext cx="67208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 txBox="1"/>
          <p:nvPr/>
        </p:nvSpPr>
        <p:spPr>
          <a:xfrm>
            <a:off x="2103120" y="3749040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Sun Microsystems officially announces Java at “</a:t>
            </a:r>
            <a:r>
              <a:rPr lang="en-US" sz="1400" b="1" dirty="0" err="1">
                <a:solidFill>
                  <a:schemeClr val="tx1"/>
                </a:solidFill>
              </a:rPr>
              <a:t>SunWorld</a:t>
            </a:r>
            <a:r>
              <a:rPr lang="en-US" sz="1400" b="1" dirty="0">
                <a:solidFill>
                  <a:schemeClr val="tx1"/>
                </a:solidFill>
              </a:rPr>
              <a:t>” Conference. </a:t>
            </a:r>
            <a:r>
              <a:rPr lang="en-US" sz="1400" dirty="0">
                <a:solidFill>
                  <a:schemeClr val="tx1"/>
                </a:solidFill>
              </a:rPr>
              <a:t>The first JDK and the HotJava browser was demonstrated, followed by Netscape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Write once, run anywhere</a:t>
            </a:r>
            <a:endParaRPr lang="en-US" sz="3600" dirty="0"/>
          </a:p>
        </p:txBody>
      </p:sp>
      <p:sp>
        <p:nvSpPr>
          <p:cNvPr id="3" name="Pipeline box"/>
          <p:cNvSpPr/>
          <p:nvPr/>
        </p:nvSpPr>
        <p:spPr>
          <a:xfrm>
            <a:off x="45720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 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.java files</a:t>
            </a:r>
            <a:endParaRPr lang="en-US" sz="1400" dirty="0"/>
          </a:p>
        </p:txBody>
      </p:sp>
      <p:sp>
        <p:nvSpPr>
          <p:cNvPr id="4" name="Pipeline box"/>
          <p:cNvSpPr/>
          <p:nvPr/>
        </p:nvSpPr>
        <p:spPr>
          <a:xfrm>
            <a:off x="260604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Compiler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javac</a:t>
            </a:r>
            <a:endParaRPr lang="en-US" sz="1400" dirty="0"/>
          </a:p>
        </p:txBody>
      </p:sp>
      <p:sp>
        <p:nvSpPr>
          <p:cNvPr id="5" name="Pipeline box"/>
          <p:cNvSpPr/>
          <p:nvPr/>
        </p:nvSpPr>
        <p:spPr>
          <a:xfrm>
            <a:off x="475488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Bytecode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.class files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94560" y="2011680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7" name="Arrow"/>
          <p:cNvSpPr/>
          <p:nvPr/>
        </p:nvSpPr>
        <p:spPr>
          <a:xfrm>
            <a:off x="4343400" y="2011680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Arrow"/>
          <p:cNvSpPr/>
          <p:nvPr/>
        </p:nvSpPr>
        <p:spPr>
          <a:xfrm>
            <a:off x="6492240" y="2011680"/>
            <a:ext cx="411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JVM box"/>
          <p:cNvSpPr/>
          <p:nvPr/>
        </p:nvSpPr>
        <p:spPr>
          <a:xfrm>
            <a:off x="6903720" y="118872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JVM on Windows</a:t>
            </a:r>
            <a:endParaRPr lang="en-US" sz="1400" dirty="0"/>
          </a:p>
        </p:txBody>
      </p:sp>
      <p:sp>
        <p:nvSpPr>
          <p:cNvPr id="10" name="JVM box"/>
          <p:cNvSpPr/>
          <p:nvPr/>
        </p:nvSpPr>
        <p:spPr>
          <a:xfrm>
            <a:off x="6903720" y="173736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JVM on Linux</a:t>
            </a:r>
            <a:endParaRPr lang="en-US" sz="1400" dirty="0"/>
          </a:p>
        </p:txBody>
      </p:sp>
      <p:sp>
        <p:nvSpPr>
          <p:cNvPr id="11" name="JVM box"/>
          <p:cNvSpPr/>
          <p:nvPr/>
        </p:nvSpPr>
        <p:spPr>
          <a:xfrm>
            <a:off x="6903720" y="228600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JVM on macOS</a:t>
            </a:r>
            <a:endParaRPr lang="en-US" sz="1400" dirty="0"/>
          </a:p>
        </p:txBody>
      </p:sp>
      <p:sp>
        <p:nvSpPr>
          <p:cNvPr id="12" name="Goal card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 txBox="1"/>
          <p:nvPr/>
        </p:nvSpPr>
        <p:spPr>
          <a:xfrm>
            <a:off x="640080" y="31089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Portable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Bytecode, not machine code, is shipped; each platform's JVM runs it.</a:t>
            </a:r>
            <a:endParaRPr lang="en-US" sz="1600" dirty="0"/>
          </a:p>
        </p:txBody>
      </p:sp>
      <p:sp>
        <p:nvSpPr>
          <p:cNvPr id="14" name="Goal card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 txBox="1"/>
          <p:nvPr/>
        </p:nvSpPr>
        <p:spPr>
          <a:xfrm>
            <a:off x="3474720" y="31089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Object-oriented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Sun's white paper described Java as simple, object-oriented and distributed.</a:t>
            </a:r>
            <a:endParaRPr lang="en-US" sz="1600" dirty="0"/>
          </a:p>
        </p:txBody>
      </p:sp>
      <p:sp>
        <p:nvSpPr>
          <p:cNvPr id="16" name="Goal card"/>
          <p:cNvSpPr/>
          <p:nvPr/>
        </p:nvSpPr>
        <p:spPr>
          <a:xfrm>
            <a:off x="612648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 txBox="1"/>
          <p:nvPr/>
        </p:nvSpPr>
        <p:spPr>
          <a:xfrm>
            <a:off x="6309360" y="310896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Strong typing catches many errors early, which suited Internet software.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Early milestones, 1996-2014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457200" y="2651760"/>
            <a:ext cx="81381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1996</a:t>
            </a:r>
            <a:endParaRPr lang="en-US" sz="2400" dirty="0"/>
          </a:p>
        </p:txBody>
      </p:sp>
      <p:sp>
        <p:nvSpPr>
          <p:cNvPr id="5" name="Timeline node"/>
          <p:cNvSpPr/>
          <p:nvPr/>
        </p:nvSpPr>
        <p:spPr>
          <a:xfrm>
            <a:off x="457200" y="24963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Java 1.0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First official public release.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1998</a:t>
            </a:r>
            <a:endParaRPr lang="en-US" sz="2400" dirty="0"/>
          </a:p>
        </p:txBody>
      </p:sp>
      <p:sp>
        <p:nvSpPr>
          <p:cNvPr id="8" name="Timeline node"/>
          <p:cNvSpPr/>
          <p:nvPr/>
        </p:nvSpPr>
        <p:spPr>
          <a:xfrm>
            <a:off x="2103120" y="24963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 txBox="1"/>
          <p:nvPr/>
        </p:nvSpPr>
        <p:spPr>
          <a:xfrm>
            <a:off x="2103120" y="31089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Java 2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400" dirty="0"/>
              <a:t>Major improvements such as better UI and expanded framework.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2004</a:t>
            </a:r>
            <a:endParaRPr lang="en-US" sz="2400" dirty="0"/>
          </a:p>
        </p:txBody>
      </p:sp>
      <p:sp>
        <p:nvSpPr>
          <p:cNvPr id="11" name="Timeline node"/>
          <p:cNvSpPr/>
          <p:nvPr/>
        </p:nvSpPr>
        <p:spPr>
          <a:xfrm>
            <a:off x="3749040" y="24963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 txBox="1"/>
          <p:nvPr/>
        </p:nvSpPr>
        <p:spPr>
          <a:xfrm>
            <a:off x="3749040" y="31089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Java 5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400" dirty="0"/>
              <a:t>Codenamed “Tiger”</a:t>
            </a:r>
          </a:p>
          <a:p>
            <a:pPr>
              <a:spcAft>
                <a:spcPts val="400"/>
              </a:spcAft>
            </a:pPr>
            <a:r>
              <a:rPr lang="en-US" sz="1400" dirty="0"/>
              <a:t>Introduced generics and annotations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2006</a:t>
            </a:r>
            <a:endParaRPr lang="en-US" sz="2400" dirty="0"/>
          </a:p>
        </p:txBody>
      </p:sp>
      <p:sp>
        <p:nvSpPr>
          <p:cNvPr id="14" name="Timeline node"/>
          <p:cNvSpPr/>
          <p:nvPr/>
        </p:nvSpPr>
        <p:spPr>
          <a:xfrm>
            <a:off x="5394960" y="24963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 txBox="1"/>
          <p:nvPr/>
        </p:nvSpPr>
        <p:spPr>
          <a:xfrm>
            <a:off x="5394960" y="31089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Open source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400" dirty="0"/>
              <a:t>Sun releases Java's source code technology</a:t>
            </a:r>
            <a:r>
              <a:rPr lang="en-US" sz="1400" dirty="0">
                <a:solidFill>
                  <a:srgbClr val="2B1D16"/>
                </a:solidFill>
              </a:rPr>
              <a:t> (OpenJDK) </a:t>
            </a:r>
            <a:r>
              <a:rPr lang="en-US" sz="1400" dirty="0"/>
              <a:t>under GPL.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2014</a:t>
            </a:r>
            <a:endParaRPr lang="en-US" sz="2400" dirty="0"/>
          </a:p>
        </p:txBody>
      </p:sp>
      <p:sp>
        <p:nvSpPr>
          <p:cNvPr id="17" name="Timeline node"/>
          <p:cNvSpPr/>
          <p:nvPr/>
        </p:nvSpPr>
        <p:spPr>
          <a:xfrm>
            <a:off x="7040880" y="24963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 txBox="1"/>
          <p:nvPr/>
        </p:nvSpPr>
        <p:spPr>
          <a:xfrm>
            <a:off x="7040880" y="31089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Java 8 (LTS)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400" dirty="0"/>
              <a:t>Lambdas and streams reshape everyday code.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Java’s Change of Ownership “The Oracle Era”</a:t>
            </a:r>
            <a:endParaRPr lang="en-US" sz="2800" dirty="0"/>
          </a:p>
        </p:txBody>
      </p:sp>
      <p:sp>
        <p:nvSpPr>
          <p:cNvPr id="3" name="Chip"/>
          <p:cNvSpPr/>
          <p:nvPr/>
        </p:nvSpPr>
        <p:spPr>
          <a:xfrm>
            <a:off x="457200" y="123444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2006</a:t>
            </a:r>
            <a:endParaRPr lang="en-US" sz="1400" dirty="0"/>
          </a:p>
        </p:txBody>
      </p:sp>
      <p:sp>
        <p:nvSpPr>
          <p:cNvPr id="4" name="Row card"/>
          <p:cNvSpPr/>
          <p:nvPr/>
        </p:nvSpPr>
        <p:spPr>
          <a:xfrm>
            <a:off x="1600200" y="123444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 txBox="1"/>
          <p:nvPr/>
        </p:nvSpPr>
        <p:spPr>
          <a:xfrm>
            <a:off x="1737360" y="1234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Sun starts open-sourcing Java, releases java implantation code </a:t>
            </a:r>
            <a:r>
              <a:rPr lang="en-US" sz="1300" dirty="0"/>
              <a:t>under JDK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6" name="Chip"/>
          <p:cNvSpPr/>
          <p:nvPr/>
        </p:nvSpPr>
        <p:spPr>
          <a:xfrm>
            <a:off x="457200" y="205740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2007</a:t>
            </a:r>
            <a:endParaRPr lang="en-US" sz="1400" dirty="0"/>
          </a:p>
        </p:txBody>
      </p:sp>
      <p:sp>
        <p:nvSpPr>
          <p:cNvPr id="7" name="Row card"/>
          <p:cNvSpPr/>
          <p:nvPr/>
        </p:nvSpPr>
        <p:spPr>
          <a:xfrm>
            <a:off x="1600200" y="205740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 txBox="1"/>
          <p:nvPr/>
        </p:nvSpPr>
        <p:spPr>
          <a:xfrm>
            <a:off x="1737360" y="2057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fully buildable OpenJDK implementation is released.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457200" y="288036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2008</a:t>
            </a:r>
            <a:endParaRPr lang="en-US" sz="1400" dirty="0"/>
          </a:p>
        </p:txBody>
      </p:sp>
      <p:sp>
        <p:nvSpPr>
          <p:cNvPr id="10" name="Row card"/>
          <p:cNvSpPr/>
          <p:nvPr/>
        </p:nvSpPr>
        <p:spPr>
          <a:xfrm>
            <a:off x="1600200" y="288036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 txBox="1"/>
          <p:nvPr/>
        </p:nvSpPr>
        <p:spPr>
          <a:xfrm>
            <a:off x="1737360" y="2880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Sun is under financial pressure and </a:t>
            </a:r>
            <a:r>
              <a:rPr lang="en-US" sz="1300" dirty="0" err="1"/>
              <a:t>and</a:t>
            </a:r>
            <a:r>
              <a:rPr lang="en-US" sz="1300" dirty="0"/>
              <a:t> it under acquisition threat.</a:t>
            </a:r>
          </a:p>
        </p:txBody>
      </p:sp>
      <p:sp>
        <p:nvSpPr>
          <p:cNvPr id="12" name="Chip"/>
          <p:cNvSpPr/>
          <p:nvPr/>
        </p:nvSpPr>
        <p:spPr>
          <a:xfrm>
            <a:off x="457200" y="3703320"/>
            <a:ext cx="10515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2009 - 2010</a:t>
            </a:r>
            <a:endParaRPr lang="en-US" sz="1400" dirty="0"/>
          </a:p>
        </p:txBody>
      </p:sp>
      <p:sp>
        <p:nvSpPr>
          <p:cNvPr id="13" name="Row card"/>
          <p:cNvSpPr/>
          <p:nvPr/>
        </p:nvSpPr>
        <p:spPr>
          <a:xfrm>
            <a:off x="1600200" y="370332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 txBox="1"/>
          <p:nvPr/>
        </p:nvSpPr>
        <p:spPr>
          <a:xfrm>
            <a:off x="1737360" y="3703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By 2009, </a:t>
            </a:r>
            <a:r>
              <a:rPr lang="en-US" sz="1300" dirty="0">
                <a:solidFill>
                  <a:schemeClr val="tx1"/>
                </a:solidFill>
              </a:rPr>
              <a:t>Oracle comes to an agreement to acquire Sun for 7.4 billion dollars and completes the acquisition by Jan 2010.</a:t>
            </a:r>
            <a:endParaRPr lang="en-US" sz="1300" dirty="0"/>
          </a:p>
        </p:txBody>
      </p:sp>
      <p:sp>
        <p:nvSpPr>
          <p:cNvPr id="15" name="Governance card"/>
          <p:cNvSpPr/>
          <p:nvPr/>
        </p:nvSpPr>
        <p:spPr>
          <a:xfrm>
            <a:off x="5440680" y="1234440"/>
            <a:ext cx="32461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 txBox="1"/>
          <p:nvPr/>
        </p:nvSpPr>
        <p:spPr>
          <a:xfrm>
            <a:off x="5577840" y="1234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CA" sz="1400" dirty="0"/>
              <a:t>“The acquisition of Sun transforms the IT industry, combining best-in-class enterprise software and mission-critical computing systems”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CA" sz="1400" dirty="0"/>
              <a:t> Larry Ellison – CEO of Oracle</a:t>
            </a:r>
            <a:r>
              <a:rPr lang="en-US" sz="1600" dirty="0"/>
              <a:t> </a:t>
            </a:r>
            <a:endParaRPr lang="en-CA" sz="1400" dirty="0"/>
          </a:p>
        </p:txBody>
      </p:sp>
      <p:sp>
        <p:nvSpPr>
          <p:cNvPr id="17" name="Licensing card"/>
          <p:cNvSpPr/>
          <p:nvPr/>
        </p:nvSpPr>
        <p:spPr>
          <a:xfrm>
            <a:off x="5440680" y="2697480"/>
            <a:ext cx="3246120" cy="187452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 txBox="1"/>
          <p:nvPr/>
        </p:nvSpPr>
        <p:spPr>
          <a:xfrm>
            <a:off x="5577840" y="26974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What this meant for Java’s History?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More investment on Java.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Better server infrastructure.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Increased support of Java tools and platforms.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Oracle v. Google: the dispute</a:t>
            </a:r>
            <a:endParaRPr lang="en-US" sz="3600" dirty="0"/>
          </a:p>
        </p:txBody>
      </p:sp>
      <p:sp>
        <p:nvSpPr>
          <p:cNvPr id="3" name="Explainer card"/>
          <p:cNvSpPr/>
          <p:nvPr/>
        </p:nvSpPr>
        <p:spPr>
          <a:xfrm>
            <a:off x="457200" y="118872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lu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is an API?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collection of established rules that enables different software applications to communicate and exchange data with each other.</a:t>
            </a:r>
            <a:endParaRPr lang="en-US" sz="1600" dirty="0"/>
          </a:p>
        </p:txBody>
      </p:sp>
      <p:sp>
        <p:nvSpPr>
          <p:cNvPr id="7" name="Stakes card"/>
          <p:cNvSpPr/>
          <p:nvPr/>
        </p:nvSpPr>
        <p:spPr>
          <a:xfrm>
            <a:off x="4709160" y="118872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Icon circle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9" name="Image 1" descr="BalanceSca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1188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was at stake?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 just money but also the future of software development. Significant financial liability putting android’s future and developer freedom at risk.</a:t>
            </a:r>
            <a:endParaRPr lang="en-US" sz="1600" dirty="0"/>
          </a:p>
        </p:txBody>
      </p:sp>
      <p:sp>
        <p:nvSpPr>
          <p:cNvPr id="11" name="Timeline line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8"/>
          <p:cNvSpPr txBox="1"/>
          <p:nvPr/>
        </p:nvSpPr>
        <p:spPr>
          <a:xfrm>
            <a:off x="45720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2010</a:t>
            </a:r>
            <a:endParaRPr lang="en-US" sz="2000" dirty="0"/>
          </a:p>
        </p:txBody>
      </p:sp>
      <p:sp>
        <p:nvSpPr>
          <p:cNvPr id="13" name="Timeline node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 txBox="1"/>
          <p:nvPr/>
        </p:nvSpPr>
        <p:spPr>
          <a:xfrm>
            <a:off x="457200" y="3794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Oracle sues Google over Android's use of Java. Claiming violation of Java’s copyright and foundation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 2012</a:t>
            </a:r>
            <a:endParaRPr lang="en-US" sz="2000" dirty="0"/>
          </a:p>
        </p:txBody>
      </p:sp>
      <p:sp>
        <p:nvSpPr>
          <p:cNvPr id="16" name="Timeline node"/>
          <p:cNvSpPr/>
          <p:nvPr/>
        </p:nvSpPr>
        <p:spPr>
          <a:xfrm>
            <a:off x="2560320" y="3364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3"/>
          <p:cNvSpPr txBox="1"/>
          <p:nvPr/>
        </p:nvSpPr>
        <p:spPr>
          <a:xfrm>
            <a:off x="2560320" y="3794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Federal court rules the Java APIs were not copyrightable.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May 2014</a:t>
            </a:r>
            <a:endParaRPr lang="en-US" sz="2000" dirty="0"/>
          </a:p>
        </p:txBody>
      </p:sp>
      <p:sp>
        <p:nvSpPr>
          <p:cNvPr id="19" name="Timeline node"/>
          <p:cNvSpPr/>
          <p:nvPr/>
        </p:nvSpPr>
        <p:spPr>
          <a:xfrm>
            <a:off x="4663440" y="3364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6"/>
          <p:cNvSpPr txBox="1"/>
          <p:nvPr/>
        </p:nvSpPr>
        <p:spPr>
          <a:xfrm>
            <a:off x="4663440" y="3794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Oracle wins the appeal, claiming some Java APIs could receive protection.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Jun 2015</a:t>
            </a:r>
            <a:endParaRPr lang="en-US" sz="2000" dirty="0"/>
          </a:p>
        </p:txBody>
      </p:sp>
      <p:sp>
        <p:nvSpPr>
          <p:cNvPr id="22" name="Timeline node"/>
          <p:cNvSpPr/>
          <p:nvPr/>
        </p:nvSpPr>
        <p:spPr>
          <a:xfrm>
            <a:off x="6766560" y="33649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9"/>
          <p:cNvSpPr txBox="1"/>
          <p:nvPr/>
        </p:nvSpPr>
        <p:spPr>
          <a:xfrm>
            <a:off x="6949440" y="3840479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Supreme Court declines to review the 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Oracle v. Google: the ruling</a:t>
            </a:r>
            <a:endParaRPr lang="en-US" sz="3600" dirty="0"/>
          </a:p>
        </p:txBody>
      </p:sp>
      <p:sp>
        <p:nvSpPr>
          <p:cNvPr id="3" name="Chip"/>
          <p:cNvSpPr/>
          <p:nvPr/>
        </p:nvSpPr>
        <p:spPr>
          <a:xfrm>
            <a:off x="457200" y="123444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May 2016</a:t>
            </a:r>
            <a:endParaRPr lang="en-US" sz="1400" dirty="0"/>
          </a:p>
        </p:txBody>
      </p:sp>
      <p:sp>
        <p:nvSpPr>
          <p:cNvPr id="4" name="Row card"/>
          <p:cNvSpPr/>
          <p:nvPr/>
        </p:nvSpPr>
        <p:spPr>
          <a:xfrm>
            <a:off x="1737360" y="123444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 txBox="1"/>
          <p:nvPr/>
        </p:nvSpPr>
        <p:spPr>
          <a:xfrm>
            <a:off x="1874520" y="1234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jury finds Google's use of Java’s API to be under fair use. Oracle files for an appeal again.</a:t>
            </a:r>
            <a:endParaRPr lang="en-US" sz="1300" dirty="0"/>
          </a:p>
        </p:txBody>
      </p:sp>
      <p:sp>
        <p:nvSpPr>
          <p:cNvPr id="6" name="Chip"/>
          <p:cNvSpPr/>
          <p:nvPr/>
        </p:nvSpPr>
        <p:spPr>
          <a:xfrm>
            <a:off x="457200" y="205740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Mar 2018</a:t>
            </a:r>
            <a:endParaRPr lang="en-US" sz="1400" dirty="0"/>
          </a:p>
        </p:txBody>
      </p:sp>
      <p:sp>
        <p:nvSpPr>
          <p:cNvPr id="7" name="Row card"/>
          <p:cNvSpPr/>
          <p:nvPr/>
        </p:nvSpPr>
        <p:spPr>
          <a:xfrm>
            <a:off x="1737360" y="205740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 txBox="1"/>
          <p:nvPr/>
        </p:nvSpPr>
        <p:spPr>
          <a:xfrm>
            <a:off x="187452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Oracle wins the appeal again. Google asks the supreme to court to review the case.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457200" y="288036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Nov 2019</a:t>
            </a:r>
            <a:endParaRPr lang="en-US" sz="1400" dirty="0"/>
          </a:p>
        </p:txBody>
      </p:sp>
      <p:sp>
        <p:nvSpPr>
          <p:cNvPr id="10" name="Row card"/>
          <p:cNvSpPr/>
          <p:nvPr/>
        </p:nvSpPr>
        <p:spPr>
          <a:xfrm>
            <a:off x="1737360" y="288036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 txBox="1"/>
          <p:nvPr/>
        </p:nvSpPr>
        <p:spPr>
          <a:xfrm>
            <a:off x="1874520" y="2880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Supreme Court agrees to hear Google's appeal.</a:t>
            </a:r>
            <a:endParaRPr lang="en-US" sz="1300" dirty="0"/>
          </a:p>
        </p:txBody>
      </p:sp>
      <p:sp>
        <p:nvSpPr>
          <p:cNvPr id="12" name="Chip"/>
          <p:cNvSpPr/>
          <p:nvPr/>
        </p:nvSpPr>
        <p:spPr>
          <a:xfrm>
            <a:off x="457200" y="370332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Apr 2021</a:t>
            </a:r>
            <a:endParaRPr lang="en-US" sz="1400" dirty="0"/>
          </a:p>
        </p:txBody>
      </p:sp>
      <p:sp>
        <p:nvSpPr>
          <p:cNvPr id="13" name="Row card"/>
          <p:cNvSpPr/>
          <p:nvPr/>
        </p:nvSpPr>
        <p:spPr>
          <a:xfrm>
            <a:off x="1737360" y="370332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 txBox="1"/>
          <p:nvPr/>
        </p:nvSpPr>
        <p:spPr>
          <a:xfrm>
            <a:off x="1874520" y="3703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Supreme Court rules 6-2 in favor of Google. </a:t>
            </a:r>
            <a:r>
              <a:rPr lang="en-US" sz="1300" dirty="0"/>
              <a:t>Making the use of API’s fair use under the United States copyright law.</a:t>
            </a:r>
          </a:p>
        </p:txBody>
      </p:sp>
      <p:sp>
        <p:nvSpPr>
          <p:cNvPr id="15" name="Ruling panel"/>
          <p:cNvSpPr/>
          <p:nvPr/>
        </p:nvSpPr>
        <p:spPr>
          <a:xfrm>
            <a:off x="5440680" y="1234440"/>
            <a:ext cx="3246120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 txBox="1"/>
          <p:nvPr/>
        </p:nvSpPr>
        <p:spPr>
          <a:xfrm>
            <a:off x="5623560" y="1325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414167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8" name="Impact card"/>
          <p:cNvSpPr/>
          <p:nvPr/>
        </p:nvSpPr>
        <p:spPr>
          <a:xfrm>
            <a:off x="544068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 txBox="1"/>
          <p:nvPr/>
        </p:nvSpPr>
        <p:spPr>
          <a:xfrm>
            <a:off x="5623560" y="3246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matters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Likely to shape how fair use applies to software cases and to reusing interfaces for compatibility.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language evolved</a:t>
            </a:r>
            <a:endParaRPr lang="en-US" sz="3600" dirty="0"/>
          </a:p>
        </p:txBody>
      </p:sp>
      <p:sp>
        <p:nvSpPr>
          <p:cNvPr id="3" name="Chip"/>
          <p:cNvSpPr/>
          <p:nvPr/>
        </p:nvSpPr>
        <p:spPr>
          <a:xfrm>
            <a:off x="457200" y="1234440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8 | 2014</a:t>
            </a:r>
            <a:endParaRPr lang="en-US" sz="1400" dirty="0"/>
          </a:p>
        </p:txBody>
      </p:sp>
      <p:sp>
        <p:nvSpPr>
          <p:cNvPr id="4" name="Row card"/>
          <p:cNvSpPr/>
          <p:nvPr/>
        </p:nvSpPr>
        <p:spPr>
          <a:xfrm>
            <a:off x="2331720" y="1234440"/>
            <a:ext cx="6355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 txBox="1"/>
          <p:nvPr/>
        </p:nvSpPr>
        <p:spPr>
          <a:xfrm>
            <a:off x="2468880" y="123444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Lambdas and the Stream API bring functional-style code to everyday Java.</a:t>
            </a:r>
            <a:endParaRPr lang="en-US" sz="1400" dirty="0"/>
          </a:p>
        </p:txBody>
      </p:sp>
      <p:sp>
        <p:nvSpPr>
          <p:cNvPr id="6" name="Chip"/>
          <p:cNvSpPr/>
          <p:nvPr/>
        </p:nvSpPr>
        <p:spPr>
          <a:xfrm>
            <a:off x="457200" y="1892808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11 | 2018</a:t>
            </a:r>
            <a:endParaRPr lang="en-US" sz="1400" dirty="0"/>
          </a:p>
        </p:txBody>
      </p:sp>
      <p:sp>
        <p:nvSpPr>
          <p:cNvPr id="7" name="Row card"/>
          <p:cNvSpPr/>
          <p:nvPr/>
        </p:nvSpPr>
        <p:spPr>
          <a:xfrm>
            <a:off x="2331720" y="1892808"/>
            <a:ext cx="6355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 txBox="1"/>
          <p:nvPr/>
        </p:nvSpPr>
        <p:spPr>
          <a:xfrm>
            <a:off x="2468880" y="189280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clean-up release that consolidates Java 9 and 10 after the move to six-month releases.</a:t>
            </a:r>
            <a:endParaRPr lang="en-US" sz="1400" dirty="0"/>
          </a:p>
        </p:txBody>
      </p:sp>
      <p:sp>
        <p:nvSpPr>
          <p:cNvPr id="9" name="Chip"/>
          <p:cNvSpPr/>
          <p:nvPr/>
        </p:nvSpPr>
        <p:spPr>
          <a:xfrm>
            <a:off x="457200" y="2551176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17 | 2021</a:t>
            </a:r>
            <a:endParaRPr lang="en-US" sz="1400" dirty="0"/>
          </a:p>
        </p:txBody>
      </p:sp>
      <p:sp>
        <p:nvSpPr>
          <p:cNvPr id="10" name="Row card"/>
          <p:cNvSpPr/>
          <p:nvPr/>
        </p:nvSpPr>
        <p:spPr>
          <a:xfrm>
            <a:off x="2331720" y="2551176"/>
            <a:ext cx="6355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 txBox="1"/>
          <p:nvPr/>
        </p:nvSpPr>
        <p:spPr>
          <a:xfrm>
            <a:off x="2468880" y="255117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Delivers switch expressions, text blocks and records introduced during Java 12-17.</a:t>
            </a:r>
            <a:endParaRPr lang="en-US" sz="1400" dirty="0"/>
          </a:p>
        </p:txBody>
      </p:sp>
      <p:sp>
        <p:nvSpPr>
          <p:cNvPr id="12" name="Chip"/>
          <p:cNvSpPr/>
          <p:nvPr/>
        </p:nvSpPr>
        <p:spPr>
          <a:xfrm>
            <a:off x="457200" y="3209544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21 | 2023</a:t>
            </a:r>
            <a:endParaRPr lang="en-US" sz="1400" dirty="0"/>
          </a:p>
        </p:txBody>
      </p:sp>
      <p:sp>
        <p:nvSpPr>
          <p:cNvPr id="13" name="Row card"/>
          <p:cNvSpPr/>
          <p:nvPr/>
        </p:nvSpPr>
        <p:spPr>
          <a:xfrm>
            <a:off x="2331720" y="3209544"/>
            <a:ext cx="6355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 txBox="1"/>
          <p:nvPr/>
        </p:nvSpPr>
        <p:spPr>
          <a:xfrm>
            <a:off x="2468880" y="320954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Virtual threads and pattern matching simplify concurrency and data handling.</a:t>
            </a:r>
            <a:endParaRPr lang="en-US" sz="1400" dirty="0"/>
          </a:p>
        </p:txBody>
      </p:sp>
      <p:sp>
        <p:nvSpPr>
          <p:cNvPr id="15" name="Chip"/>
          <p:cNvSpPr/>
          <p:nvPr/>
        </p:nvSpPr>
        <p:spPr>
          <a:xfrm>
            <a:off x="457200" y="3867912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Java 25 | 2025</a:t>
            </a:r>
            <a:endParaRPr lang="en-US" sz="1400" dirty="0"/>
          </a:p>
        </p:txBody>
      </p:sp>
      <p:sp>
        <p:nvSpPr>
          <p:cNvPr id="16" name="Row card"/>
          <p:cNvSpPr/>
          <p:nvPr/>
        </p:nvSpPr>
        <p:spPr>
          <a:xfrm>
            <a:off x="2331720" y="3867912"/>
            <a:ext cx="6355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 txBox="1"/>
          <p:nvPr/>
        </p:nvSpPr>
        <p:spPr>
          <a:xfrm>
            <a:off x="2468880" y="386791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newest LTS, consolidating features that previewed across Java 22-24.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comes next</a:t>
            </a:r>
            <a:endParaRPr lang="en-US" sz="3600" dirty="0"/>
          </a:p>
        </p:txBody>
      </p:sp>
      <p:sp>
        <p:nvSpPr>
          <p:cNvPr id="3" name="Feature panel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JDK 28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Scheduled for March 2027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Early access previews the first major phase of Project Valhalla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Six JEPs are already targeted or proposed</a:t>
            </a:r>
            <a:endParaRPr lang="en-US" sz="1400" dirty="0"/>
          </a:p>
        </p:txBody>
      </p:sp>
      <p:sp>
        <p:nvSpPr>
          <p:cNvPr id="7" name="Feature card"/>
          <p:cNvSpPr/>
          <p:nvPr/>
        </p:nvSpPr>
        <p:spPr>
          <a:xfrm>
            <a:off x="4572000" y="1280160"/>
            <a:ext cx="4114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Icon circle"/>
          <p:cNvSpPr/>
          <p:nvPr/>
        </p:nvSpPr>
        <p:spPr>
          <a:xfrm>
            <a:off x="4754880" y="17145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9" name="Image 0" descr="Lo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8745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77840" y="128016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Post-quantum roadmap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Oracle plans to bring comparable capabilities to its long-term-support releases.</a:t>
            </a:r>
            <a:endParaRPr lang="en-US" sz="1600" dirty="0"/>
          </a:p>
        </p:txBody>
      </p:sp>
      <p:sp>
        <p:nvSpPr>
          <p:cNvPr id="11" name="Feature card"/>
          <p:cNvSpPr/>
          <p:nvPr/>
        </p:nvSpPr>
        <p:spPr>
          <a:xfrm>
            <a:off x="4572000" y="2971800"/>
            <a:ext cx="4114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Icon circle"/>
          <p:cNvSpPr/>
          <p:nvPr/>
        </p:nvSpPr>
        <p:spPr>
          <a:xfrm>
            <a:off x="4754880" y="34061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1" descr="Rock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566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77840" y="29718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Java 29 in September 2027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next planned LTS under the two-year cadence.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ADT Magazine. (2026, June 24). Feature set locked as Oracle enters stabilization phase. https://adtmag.com/articles/2026/06/24/feature-set-locked-as-oracle-enters-stabilization-phase.aspx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Copyright Alliance. (n.d.). Oracle America v. Google. https://copyrightalliance.org/copyright-cases/oracle-america-v-google/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dev.java. (n.d.). Using the preview features available in the JDK. https://dev.java/learn/new-features/using-preview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Electronic Frontier Foundation. (n.d.). Oracle v. Google. https://www.eff.org/node/74307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eWeek. (2010, December 27). The top 7 Java stories of 2010. https://www.eweek.com/development/the-top-7-java-stories-of-2010/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InfoQ. (2026, August). Java 27 so far. https://infoq.com/news/2026/08/java-27-so-far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Jones Day. (2021, April). Supreme Court ends decade-long software copyright battle: Google wins. https://www.jonesday.com/en/insights/2021/04/supreme-court-google-wins-copyright-battle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18872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Martens, C. (2007, May). Sun says bulk of Java is open sourced. InfoWorld. https://www.infoworld.com/article/2175376/sun-says-bulk-of-java-is-open-sourced.html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OpenJDK. (n.d.). JDK 27. https://openjdk.org/projects/jdk/27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Oracle. (2026, September 15). Oracle releases Java 27 and strengthens post-quantum cryptography support. https://www.oracle.com/nl/news/announcement/oracle-releases-java-27-and-strengthens-post-quantum-cryptography-support-2026-09-15/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Oracle. (2026, September 15). JDK 27 release notes. https://www.oracle.com/java/technologies/javase/27-relnote-issues.html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Oracle. (2026, September 15). Oracle Java SE support roadmap. https://www.oracle.com/java/technologies/java-se-support-roadmap.html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The KodeLab. (2026). Java LTS evolution: From Java 8 to Java 25. https://thekodelab.com/en/posts/java-lts-evolution/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University of Guelph. (2004). A short history of Java [Course notes]. https://www.cis.uoguelph.ca/~qmahmoud/teaching/fall2004/dcct1020/java-intro.pdf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Wikipedia. (n.d.). Java version history. https://en.wikipedia.org/wiki/Java_version_history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Roast">
  <a:themeElements>
    <a:clrScheme name="Java Roast">
      <a:dk1>
        <a:srgbClr val="2B1D16"/>
      </a:dk1>
      <a:lt1>
        <a:srgbClr val="FFFFFF"/>
      </a:lt1>
      <a:dk2>
        <a:srgbClr val="5B3A29"/>
      </a:dk2>
      <a:lt2>
        <a:srgbClr val="F2F4F7"/>
      </a:lt2>
      <a:accent1>
        <a:srgbClr val="C95A00"/>
      </a:accent1>
      <a:accent2>
        <a:srgbClr val="5382A1"/>
      </a:accent2>
      <a:accent3>
        <a:srgbClr val="F8A13F"/>
      </a:accent3>
      <a:accent4>
        <a:srgbClr val="8C5A3C"/>
      </a:accent4>
      <a:accent5>
        <a:srgbClr val="2E7D6B"/>
      </a:accent5>
      <a:accent6>
        <a:srgbClr val="B23A48"/>
      </a:accent6>
      <a:hlink>
        <a:srgbClr val="5382A1"/>
      </a:hlink>
      <a:folHlink>
        <a:srgbClr val="8C5A3C"/>
      </a:folHlink>
    </a:clrScheme>
    <a:fontScheme name="Java Ro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1340</Words>
  <Application>Microsoft Office PowerPoint</Application>
  <PresentationFormat>On-screen Show (16:9)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Java Roast</vt:lpstr>
      <vt:lpstr>The History and Evolution of Java</vt:lpstr>
      <vt:lpstr>Java: A Brief Overview</vt:lpstr>
      <vt:lpstr>Timeline: The Green Project</vt:lpstr>
      <vt:lpstr>Write once, run anywhere</vt:lpstr>
      <vt:lpstr>Early milestones, 1996-2014</vt:lpstr>
      <vt:lpstr>Java’s Change of Ownership “The Oracle Era”</vt:lpstr>
      <vt:lpstr>Oracle v. Google: the dispute</vt:lpstr>
      <vt:lpstr>Oracle v. Google: the ruling</vt:lpstr>
      <vt:lpstr>How the language evolved</vt:lpstr>
      <vt:lpstr>What comes next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and Evolution of Java</dc:title>
  <dc:subject>PptxGenJS Presentation</dc:subject>
  <dc:creator>PptxGenJS</dc:creator>
  <cp:lastModifiedBy>Mohammad Khazaeli</cp:lastModifiedBy>
  <cp:revision>5</cp:revision>
  <dcterms:created xsi:type="dcterms:W3CDTF">2026-10-14T08:11:36Z</dcterms:created>
  <dcterms:modified xsi:type="dcterms:W3CDTF">2026-10-15T07:05:46Z</dcterms:modified>
</cp:coreProperties>
</file>