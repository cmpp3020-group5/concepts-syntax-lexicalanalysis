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5"/>
  </p:notesMasterIdLst>
  <p:sldIdLst>
    <p:sldId id="256" r:id="rId2"/>
    <p:sldId id="273" r:id="rId3"/>
    <p:sldId id="274" r:id="rId4"/>
    <p:sldId id="259" r:id="rId5"/>
    <p:sldId id="275" r:id="rId6"/>
    <p:sldId id="260" r:id="rId7"/>
    <p:sldId id="261" r:id="rId8"/>
    <p:sldId id="262" r:id="rId9"/>
    <p:sldId id="263" r:id="rId10"/>
    <p:sldId id="265" r:id="rId11"/>
    <p:sldId id="268" r:id="rId12"/>
    <p:sldId id="272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1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F156A-735F-46A3-8711-12755928801B}" type="datetimeFigureOut">
              <a:rPr lang="en-CA" smtClean="0"/>
              <a:t>2026-10-16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3D7AC-C1FB-4616-866B-A4644E05A6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954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*Used Claude AI to get help with designing and polishing the Template of the 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tying the story together: purpose, ownership, release model, and where Java is heading.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69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463040"/>
            <a:ext cx="71932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333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333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901440"/>
            <a:ext cx="707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67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239004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10879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609600" y="6339840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chemeClr val="tx2"/>
                </a:solidFill>
              </a:rPr>
              <a:t>The History and Evolution of Java</a:t>
            </a:r>
            <a:endParaRPr lang="en-US" sz="13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8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9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rcobehler.com/guides/a-guide-to-java-versions-and-features" TargetMode="External"/><Relationship Id="rId13" Type="http://schemas.openxmlformats.org/officeDocument/2006/relationships/hyperlink" Target="https://www.infoq.com/news/2026/03/java-news-roundup-feb23-2026/" TargetMode="External"/><Relationship Id="rId3" Type="http://schemas.openxmlformats.org/officeDocument/2006/relationships/hyperlink" Target="https://www.cis.uoguelph.ca/~qmahmoud/teaching/fall2004/dcct1020/java-intro.pdf" TargetMode="External"/><Relationship Id="rId7" Type="http://schemas.openxmlformats.org/officeDocument/2006/relationships/hyperlink" Target="https://www.oracle.com/corporate/pressrelease/oracle-buys-sun-042009.html" TargetMode="External"/><Relationship Id="rId12" Type="http://schemas.openxmlformats.org/officeDocument/2006/relationships/hyperlink" Target="https://www.oracle.com/nl/news/announcement/oracle-releases-java-27-and-strengthens-post-quantum-cryptography-support-2026-09-15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oracle.com/a/ocom/docs/dc/ww-brief-history-java-infographic.pdf" TargetMode="External"/><Relationship Id="rId11" Type="http://schemas.openxmlformats.org/officeDocument/2006/relationships/hyperlink" Target="https://harvardlawreview.org/print/vol-135/google-llc-v-oracle-america-inc/" TargetMode="External"/><Relationship Id="rId5" Type="http://schemas.openxmlformats.org/officeDocument/2006/relationships/hyperlink" Target="https://www.oracle.com/java/technologies/java-se-support-roadmap.html" TargetMode="External"/><Relationship Id="rId10" Type="http://schemas.openxmlformats.org/officeDocument/2006/relationships/hyperlink" Target="https://www.supremecourt.gov/opinions/20pdf/18-956_d18f.pdf" TargetMode="External"/><Relationship Id="rId4" Type="http://schemas.openxmlformats.org/officeDocument/2006/relationships/hyperlink" Target="https://www.oracle.com/java/technologies/language-environment.html" TargetMode="External"/><Relationship Id="rId9" Type="http://schemas.openxmlformats.org/officeDocument/2006/relationships/hyperlink" Target="https://www.eff.org/cases/oracle-v-google" TargetMode="External"/><Relationship Id="rId14" Type="http://schemas.openxmlformats.org/officeDocument/2006/relationships/hyperlink" Target="https://openjdk.org/jeps/4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463040"/>
            <a:ext cx="719328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dirty="0"/>
              <a:t>The History and Evolution of Java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901440"/>
            <a:ext cx="707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From the Oak tree to Java 28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31520" y="57302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chemeClr val="bg1"/>
                </a:solidFill>
              </a:rPr>
              <a:t>Assignment: Concepts, Syntax, Lexical Analysis  </a:t>
            </a:r>
          </a:p>
          <a:p>
            <a:r>
              <a:rPr lang="en-US" sz="1867" dirty="0">
                <a:solidFill>
                  <a:schemeClr val="bg1"/>
                </a:solidFill>
              </a:rPr>
              <a:t>Mohammad Khazaeli, Jason Wu, Jiao Wang, Karina Chiste</a:t>
            </a:r>
            <a:endParaRPr lang="en-US" sz="1867" dirty="0"/>
          </a:p>
        </p:txBody>
      </p:sp>
      <p:sp>
        <p:nvSpPr>
          <p:cNvPr id="5" name="Icon circle"/>
          <p:cNvSpPr/>
          <p:nvPr/>
        </p:nvSpPr>
        <p:spPr>
          <a:xfrm>
            <a:off x="8656320" y="1706880"/>
            <a:ext cx="2926080" cy="2926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 sz="2400"/>
          </a:p>
        </p:txBody>
      </p:sp>
      <p:pic>
        <p:nvPicPr>
          <p:cNvPr id="6" name="Image 0" descr="Coffe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840" y="24384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Java: A Brief Overview</a:t>
            </a:r>
          </a:p>
        </p:txBody>
      </p:sp>
      <p:sp>
        <p:nvSpPr>
          <p:cNvPr id="3" name="Stat card"/>
          <p:cNvSpPr/>
          <p:nvPr/>
        </p:nvSpPr>
        <p:spPr>
          <a:xfrm>
            <a:off x="609600" y="1706880"/>
            <a:ext cx="3413760" cy="4145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Icon circle"/>
          <p:cNvSpPr/>
          <p:nvPr/>
        </p:nvSpPr>
        <p:spPr>
          <a:xfrm>
            <a:off x="975360" y="2072640"/>
            <a:ext cx="853440" cy="853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pic>
        <p:nvPicPr>
          <p:cNvPr id="5" name="Image 0" descr="Calendar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86000"/>
            <a:ext cx="426720" cy="426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5360" y="323088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800" b="1" dirty="0">
                <a:solidFill>
                  <a:srgbClr val="2B1D16"/>
                </a:solidFill>
                <a:latin typeface="Cambria"/>
                <a:ea typeface="Cambria"/>
                <a:cs typeface="+mj-lt" pitchFamily="34" charset="-120"/>
              </a:rPr>
              <a:t>May 1995</a:t>
            </a:r>
            <a:endParaRPr lang="en-US" sz="48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75360" y="4206240"/>
            <a:ext cx="28041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dirty="0">
                <a:solidFill>
                  <a:srgbClr val="5B3A29"/>
                </a:solidFill>
                <a:latin typeface="Calibri"/>
              </a:rPr>
              <a:t>-Announced by Sun Microsystems to the public</a:t>
            </a:r>
          </a:p>
          <a:p>
            <a:pPr defTabSz="1219170"/>
            <a:r>
              <a:rPr lang="en-US" sz="1867" dirty="0">
                <a:solidFill>
                  <a:srgbClr val="5B3A29"/>
                </a:solidFill>
                <a:latin typeface="Calibri"/>
              </a:rPr>
              <a:t>-Designed by James Gosling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Stat card"/>
          <p:cNvSpPr/>
          <p:nvPr/>
        </p:nvSpPr>
        <p:spPr>
          <a:xfrm>
            <a:off x="4389120" y="1706880"/>
            <a:ext cx="3413760" cy="4145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9" name="Icon circle"/>
          <p:cNvSpPr/>
          <p:nvPr/>
        </p:nvSpPr>
        <p:spPr>
          <a:xfrm>
            <a:off x="4754880" y="2072640"/>
            <a:ext cx="853440" cy="853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pic>
        <p:nvPicPr>
          <p:cNvPr id="10" name="Image 1" descr="Sync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240" y="2286000"/>
            <a:ext cx="426720" cy="4267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323088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800" b="1" dirty="0">
                <a:solidFill>
                  <a:srgbClr val="2B1D16"/>
                </a:solidFill>
                <a:latin typeface="Cambria"/>
                <a:ea typeface="Cambria"/>
                <a:cs typeface="+mj-lt" pitchFamily="34" charset="-120"/>
              </a:rPr>
              <a:t>Editions</a:t>
            </a:r>
            <a:endParaRPr lang="en-US" sz="48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754880" y="4206240"/>
            <a:ext cx="28041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-Java Card</a:t>
            </a:r>
          </a:p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-Java Platform, Micro Ed</a:t>
            </a:r>
          </a:p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-Java Platform, Standard Ed</a:t>
            </a:r>
          </a:p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-Java Platform, Enterprise Ed</a:t>
            </a:r>
          </a:p>
        </p:txBody>
      </p:sp>
      <p:sp>
        <p:nvSpPr>
          <p:cNvPr id="13" name="Stat card"/>
          <p:cNvSpPr/>
          <p:nvPr/>
        </p:nvSpPr>
        <p:spPr>
          <a:xfrm>
            <a:off x="8168640" y="1706880"/>
            <a:ext cx="3413760" cy="4145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4" name="Icon circle"/>
          <p:cNvSpPr/>
          <p:nvPr/>
        </p:nvSpPr>
        <p:spPr>
          <a:xfrm>
            <a:off x="8534400" y="2072640"/>
            <a:ext cx="853440" cy="853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pic>
        <p:nvPicPr>
          <p:cNvPr id="15" name="Image 2" descr="Rocke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760" y="2286000"/>
            <a:ext cx="426720" cy="4267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34400" y="323088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800" b="1" dirty="0">
                <a:solidFill>
                  <a:srgbClr val="2B1D16"/>
                </a:solidFill>
                <a:latin typeface="Cambria"/>
                <a:ea typeface="Cambria"/>
                <a:cs typeface="+mj-lt" pitchFamily="34" charset="-120"/>
              </a:rPr>
              <a:t>Java 27</a:t>
            </a:r>
            <a:endParaRPr lang="en-US" sz="48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534400" y="4206240"/>
            <a:ext cx="28041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dirty="0">
                <a:solidFill>
                  <a:srgbClr val="5B3A29"/>
                </a:solidFill>
                <a:latin typeface="Calibri"/>
              </a:rPr>
              <a:t>-Last stable version, released September 15, 2026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2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Timeline: The Green Project</a:t>
            </a:r>
          </a:p>
        </p:txBody>
      </p:sp>
      <p:sp>
        <p:nvSpPr>
          <p:cNvPr id="3" name="Chip"/>
          <p:cNvSpPr/>
          <p:nvPr/>
        </p:nvSpPr>
        <p:spPr>
          <a:xfrm>
            <a:off x="609600" y="1706880"/>
            <a:ext cx="1828800" cy="950976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1991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Row card"/>
          <p:cNvSpPr/>
          <p:nvPr/>
        </p:nvSpPr>
        <p:spPr>
          <a:xfrm>
            <a:off x="2621280" y="1706880"/>
            <a:ext cx="8961120" cy="950976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804160" y="1730477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2B1D16"/>
                </a:solidFill>
                <a:latin typeface="Calibri"/>
              </a:rPr>
              <a:t>The Start of The Green Project. </a:t>
            </a:r>
            <a:r>
              <a:rPr lang="en-US" sz="1867" dirty="0">
                <a:solidFill>
                  <a:srgbClr val="2B1D16"/>
                </a:solidFill>
                <a:latin typeface="Calibri"/>
              </a:rPr>
              <a:t>James Gosling, Mike Sheridan and Patrick Naughton supervised a team of engineers to explore a new technology. The project aimed to build a software that can run on different types of hardware and can allow electronic devices to communicate in a heterogenous network. </a:t>
            </a:r>
          </a:p>
        </p:txBody>
      </p:sp>
      <p:sp>
        <p:nvSpPr>
          <p:cNvPr id="6" name="Chip"/>
          <p:cNvSpPr/>
          <p:nvPr/>
        </p:nvSpPr>
        <p:spPr>
          <a:xfrm>
            <a:off x="609600" y="2804160"/>
            <a:ext cx="1828800" cy="950976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1992-93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Row card"/>
          <p:cNvSpPr/>
          <p:nvPr/>
        </p:nvSpPr>
        <p:spPr>
          <a:xfrm>
            <a:off x="2621280" y="2804160"/>
            <a:ext cx="8961120" cy="950976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804160" y="280416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2B1D16"/>
                </a:solidFill>
                <a:latin typeface="Calibri"/>
              </a:rPr>
              <a:t>The language "Oak" is built for the project. </a:t>
            </a:r>
            <a:r>
              <a:rPr lang="en-US" sz="1867" dirty="0">
                <a:solidFill>
                  <a:srgbClr val="2B1D16"/>
                </a:solidFill>
                <a:latin typeface="Calibri"/>
              </a:rPr>
              <a:t>Named after a tree that stood outside Gosling’s office. Originally, the team wanted to use C++ for the project, but it wasn’t sufficient for memory management and was too complex to use. </a:t>
            </a:r>
          </a:p>
        </p:txBody>
      </p:sp>
      <p:sp>
        <p:nvSpPr>
          <p:cNvPr id="9" name="Chip"/>
          <p:cNvSpPr/>
          <p:nvPr/>
        </p:nvSpPr>
        <p:spPr>
          <a:xfrm>
            <a:off x="609600" y="3901440"/>
            <a:ext cx="1828800" cy="950976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Jan 1995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0" name="Row card"/>
          <p:cNvSpPr/>
          <p:nvPr/>
        </p:nvSpPr>
        <p:spPr>
          <a:xfrm>
            <a:off x="2621280" y="3901440"/>
            <a:ext cx="8961120" cy="950976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804160" y="390144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2B1D16"/>
                </a:solidFill>
                <a:latin typeface="Calibri"/>
              </a:rPr>
              <a:t>“Oak” is renamed to “Java”. </a:t>
            </a:r>
            <a:r>
              <a:rPr lang="en-US" sz="1867" dirty="0">
                <a:solidFill>
                  <a:srgbClr val="2B1D16"/>
                </a:solidFill>
                <a:latin typeface="Calibri"/>
              </a:rPr>
              <a:t>This happened because of a trademark conflict with Oak technologies. They chose Java because it was catchy and unique. Java refers to Java Island in Indonesia where it plays major role in coffee trading.</a:t>
            </a:r>
          </a:p>
        </p:txBody>
      </p:sp>
      <p:sp>
        <p:nvSpPr>
          <p:cNvPr id="12" name="Chip"/>
          <p:cNvSpPr/>
          <p:nvPr/>
        </p:nvSpPr>
        <p:spPr>
          <a:xfrm>
            <a:off x="609600" y="4998720"/>
            <a:ext cx="1828800" cy="950976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May 1995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3" name="Row card"/>
          <p:cNvSpPr/>
          <p:nvPr/>
        </p:nvSpPr>
        <p:spPr>
          <a:xfrm>
            <a:off x="2621280" y="4998720"/>
            <a:ext cx="8961120" cy="950976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804160" y="499872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2B1D16"/>
                </a:solidFill>
                <a:latin typeface="Calibri"/>
              </a:rPr>
              <a:t>Sun Microsystems officially announces Java at “</a:t>
            </a:r>
            <a:r>
              <a:rPr lang="en-US" sz="1867" b="1" dirty="0" err="1">
                <a:solidFill>
                  <a:srgbClr val="2B1D16"/>
                </a:solidFill>
                <a:latin typeface="Calibri"/>
              </a:rPr>
              <a:t>SunWorld</a:t>
            </a:r>
            <a:r>
              <a:rPr lang="en-US" sz="1867" b="1" dirty="0">
                <a:solidFill>
                  <a:srgbClr val="2B1D16"/>
                </a:solidFill>
                <a:latin typeface="Calibri"/>
              </a:rPr>
              <a:t>” Conference. </a:t>
            </a:r>
            <a:r>
              <a:rPr lang="en-US" sz="1867" dirty="0">
                <a:solidFill>
                  <a:srgbClr val="2B1D16"/>
                </a:solidFill>
                <a:latin typeface="Calibri"/>
              </a:rPr>
              <a:t>The first JDK and the HotJava browser was demonstrated, followed by Netscape support.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3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How Java Code Runs? </a:t>
            </a:r>
          </a:p>
        </p:txBody>
      </p:sp>
      <p:sp>
        <p:nvSpPr>
          <p:cNvPr id="3" name="Pipeline box"/>
          <p:cNvSpPr/>
          <p:nvPr/>
        </p:nvSpPr>
        <p:spPr>
          <a:xfrm>
            <a:off x="609600" y="2133600"/>
            <a:ext cx="2316480" cy="10972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2B1D16"/>
                </a:solidFill>
                <a:latin typeface="Calibri"/>
              </a:rPr>
              <a:t>Source code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  <a:p>
            <a:pPr algn="ctr"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.java</a:t>
            </a:r>
          </a:p>
        </p:txBody>
      </p:sp>
      <p:sp>
        <p:nvSpPr>
          <p:cNvPr id="4" name="Pipeline box"/>
          <p:cNvSpPr/>
          <p:nvPr/>
        </p:nvSpPr>
        <p:spPr>
          <a:xfrm>
            <a:off x="3474720" y="2133600"/>
            <a:ext cx="2316480" cy="10972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2B1D16"/>
                </a:solidFill>
                <a:latin typeface="Calibri"/>
              </a:rPr>
              <a:t> Java Compiler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  <a:p>
            <a:pPr algn="ctr"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javac</a:t>
            </a:r>
          </a:p>
        </p:txBody>
      </p:sp>
      <p:sp>
        <p:nvSpPr>
          <p:cNvPr id="5" name="Pipeline box"/>
          <p:cNvSpPr/>
          <p:nvPr/>
        </p:nvSpPr>
        <p:spPr>
          <a:xfrm>
            <a:off x="6339840" y="2133600"/>
            <a:ext cx="2316480" cy="109728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Bytecode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  <a:p>
            <a:pPr algn="ctr" defTabSz="1219170"/>
            <a:r>
              <a:rPr lang="en-US" sz="1867" dirty="0">
                <a:solidFill>
                  <a:srgbClr val="FFFFFF"/>
                </a:solidFill>
                <a:latin typeface="Calibri"/>
              </a:rPr>
              <a:t>.class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6" name="Arrow"/>
          <p:cNvSpPr/>
          <p:nvPr/>
        </p:nvSpPr>
        <p:spPr>
          <a:xfrm>
            <a:off x="2926080" y="268224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Arrow"/>
          <p:cNvSpPr/>
          <p:nvPr/>
        </p:nvSpPr>
        <p:spPr>
          <a:xfrm>
            <a:off x="5791200" y="268224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8656320" y="268224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9" name="JVM box"/>
          <p:cNvSpPr/>
          <p:nvPr/>
        </p:nvSpPr>
        <p:spPr>
          <a:xfrm>
            <a:off x="9204960" y="1584960"/>
            <a:ext cx="2316480" cy="6096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JVM on Windows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0" name="JVM box"/>
          <p:cNvSpPr/>
          <p:nvPr/>
        </p:nvSpPr>
        <p:spPr>
          <a:xfrm>
            <a:off x="9204960" y="2316480"/>
            <a:ext cx="2316480" cy="6096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JVM on Linux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1" name="JVM box"/>
          <p:cNvSpPr/>
          <p:nvPr/>
        </p:nvSpPr>
        <p:spPr>
          <a:xfrm>
            <a:off x="9204960" y="3048000"/>
            <a:ext cx="2316480" cy="6096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JVM on macOS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2" name="Goal card"/>
          <p:cNvSpPr/>
          <p:nvPr/>
        </p:nvSpPr>
        <p:spPr>
          <a:xfrm>
            <a:off x="609600" y="4023360"/>
            <a:ext cx="3413760" cy="20116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3440" y="4145280"/>
            <a:ext cx="292608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Good Performance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JIT compilation prevents slow running code in VM’s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4" name="Goal card"/>
          <p:cNvSpPr/>
          <p:nvPr/>
        </p:nvSpPr>
        <p:spPr>
          <a:xfrm>
            <a:off x="4389120" y="4023360"/>
            <a:ext cx="3413760" cy="20116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632960" y="4145280"/>
            <a:ext cx="292608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Write Once, Run Everywhere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This is the principle of a Java Code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6" name="Goal card"/>
          <p:cNvSpPr/>
          <p:nvPr/>
        </p:nvSpPr>
        <p:spPr>
          <a:xfrm>
            <a:off x="8168640" y="4023360"/>
            <a:ext cx="3413760" cy="20116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4145280"/>
            <a:ext cx="292608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Advanced Memory Management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Using garbage collection, java reclaims memory filled by objects.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4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5020-AA21-92F8-0CDA-E65388F6694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Java Code Example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07152-5C49-5763-FD1C-3AFD9258C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64" y="1696251"/>
            <a:ext cx="6483683" cy="2819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32B788-8D97-F301-78E9-D8B9E39EC587}"/>
              </a:ext>
            </a:extLst>
          </p:cNvPr>
          <p:cNvSpPr txBox="1"/>
          <p:nvPr/>
        </p:nvSpPr>
        <p:spPr>
          <a:xfrm>
            <a:off x="7591096" y="1696251"/>
            <a:ext cx="452553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Class: </a:t>
            </a:r>
            <a:r>
              <a:rPr lang="en-US" sz="2400" dirty="0">
                <a:solidFill>
                  <a:schemeClr val="bg1"/>
                </a:solidFill>
              </a:rPr>
              <a:t>Every Java code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lives inside a class.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Main: </a:t>
            </a:r>
            <a:r>
              <a:rPr lang="en-US" sz="2400" dirty="0">
                <a:solidFill>
                  <a:schemeClr val="bg1"/>
                </a:solidFill>
              </a:rPr>
              <a:t>where the program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execution begins.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int: </a:t>
            </a:r>
            <a:r>
              <a:rPr lang="en-US" sz="2400" dirty="0">
                <a:solidFill>
                  <a:schemeClr val="bg1"/>
                </a:solidFill>
              </a:rPr>
              <a:t>variable with declared </a:t>
            </a:r>
          </a:p>
          <a:p>
            <a:r>
              <a:rPr lang="en-US" sz="2400" dirty="0">
                <a:solidFill>
                  <a:schemeClr val="bg1"/>
                </a:solidFill>
              </a:rPr>
              <a:t>type.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bg1"/>
                </a:solidFill>
              </a:rPr>
              <a:t>System.out.printIn</a:t>
            </a:r>
            <a:r>
              <a:rPr lang="en-US" sz="2400" dirty="0">
                <a:solidFill>
                  <a:schemeClr val="bg1"/>
                </a:solidFill>
              </a:rPr>
              <a:t>: Prints the line.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A8FFC-640B-FEE0-421F-EE75D5037236}"/>
              </a:ext>
            </a:extLst>
          </p:cNvPr>
          <p:cNvSpPr txBox="1"/>
          <p:nvPr/>
        </p:nvSpPr>
        <p:spPr>
          <a:xfrm>
            <a:off x="964453" y="5249917"/>
            <a:ext cx="56664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i="1" dirty="0">
                <a:highlight>
                  <a:srgbClr val="FFFF00"/>
                </a:highlight>
              </a:rPr>
              <a:t>Output:</a:t>
            </a:r>
          </a:p>
          <a:p>
            <a:r>
              <a:rPr lang="en-CA" sz="3200" i="1" dirty="0">
                <a:highlight>
                  <a:srgbClr val="FFFF00"/>
                </a:highlight>
              </a:rPr>
              <a:t>Assignment due date is Oct 16th.</a:t>
            </a:r>
          </a:p>
        </p:txBody>
      </p:sp>
    </p:spTree>
    <p:extLst>
      <p:ext uri="{BB962C8B-B14F-4D97-AF65-F5344CB8AC3E}">
        <p14:creationId xmlns:p14="http://schemas.microsoft.com/office/powerpoint/2010/main" val="92260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Early milestones, 1996-2014</a:t>
            </a:r>
          </a:p>
        </p:txBody>
      </p:sp>
      <p:sp>
        <p:nvSpPr>
          <p:cNvPr id="3" name="Timeline line"/>
          <p:cNvSpPr/>
          <p:nvPr/>
        </p:nvSpPr>
        <p:spPr>
          <a:xfrm>
            <a:off x="609600" y="3535680"/>
            <a:ext cx="108508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249936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C95A00"/>
                </a:solidFill>
                <a:latin typeface="Cambria"/>
                <a:ea typeface="Cambria"/>
                <a:cs typeface="+mj-lt" pitchFamily="34" charset="-120"/>
              </a:rPr>
              <a:t>1996</a:t>
            </a:r>
            <a:endParaRPr lang="en-US" sz="32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5" name="Timeline node"/>
          <p:cNvSpPr/>
          <p:nvPr/>
        </p:nvSpPr>
        <p:spPr>
          <a:xfrm>
            <a:off x="609600" y="332841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4145280"/>
            <a:ext cx="20726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Java 1.0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First official public release.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804160" y="249936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C95A00"/>
                </a:solidFill>
                <a:latin typeface="Cambria"/>
                <a:ea typeface="Cambria"/>
                <a:cs typeface="+mj-lt" pitchFamily="34" charset="-120"/>
              </a:rPr>
              <a:t>1998</a:t>
            </a:r>
            <a:endParaRPr lang="en-US" sz="32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Timeline node"/>
          <p:cNvSpPr/>
          <p:nvPr/>
        </p:nvSpPr>
        <p:spPr>
          <a:xfrm>
            <a:off x="2804160" y="332841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804160" y="4145280"/>
            <a:ext cx="20726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Java 2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Major improvements such as better UI and expanded framework.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998720" y="249936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C95A00"/>
                </a:solidFill>
                <a:latin typeface="Cambria"/>
                <a:ea typeface="Cambria"/>
                <a:cs typeface="+mj-lt" pitchFamily="34" charset="-120"/>
              </a:rPr>
              <a:t>2004</a:t>
            </a:r>
            <a:endParaRPr lang="en-US" sz="32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1" name="Timeline node"/>
          <p:cNvSpPr/>
          <p:nvPr/>
        </p:nvSpPr>
        <p:spPr>
          <a:xfrm>
            <a:off x="4998720" y="332841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998720" y="4145280"/>
            <a:ext cx="20726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Java 5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Codenamed “Tiger”</a:t>
            </a: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Introduced generics and annotations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193280" y="249936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C95A00"/>
                </a:solidFill>
                <a:latin typeface="Cambria"/>
                <a:ea typeface="Cambria"/>
                <a:cs typeface="+mj-lt" pitchFamily="34" charset="-120"/>
              </a:rPr>
              <a:t>2006</a:t>
            </a:r>
            <a:endParaRPr lang="en-US" sz="32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4" name="Timeline node"/>
          <p:cNvSpPr/>
          <p:nvPr/>
        </p:nvSpPr>
        <p:spPr>
          <a:xfrm>
            <a:off x="7193280" y="332841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193280" y="4145280"/>
            <a:ext cx="20726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Open source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Sun releases Java's source code technology (OpenJDK) under GPL.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387840" y="249936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C95A00"/>
                </a:solidFill>
                <a:latin typeface="Cambria"/>
                <a:ea typeface="Cambria"/>
                <a:cs typeface="+mj-lt" pitchFamily="34" charset="-120"/>
              </a:rPr>
              <a:t>2014</a:t>
            </a:r>
            <a:endParaRPr lang="en-US" sz="3200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7" name="Timeline node"/>
          <p:cNvSpPr/>
          <p:nvPr/>
        </p:nvSpPr>
        <p:spPr>
          <a:xfrm>
            <a:off x="9387840" y="332841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387840" y="4145280"/>
            <a:ext cx="20726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533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Java 8 (LTS)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533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Lambdas change everyday code.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6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dirty="0"/>
              <a:t>Java’s Change of Ownership “The Oracle Era”</a:t>
            </a:r>
          </a:p>
        </p:txBody>
      </p:sp>
      <p:sp>
        <p:nvSpPr>
          <p:cNvPr id="3" name="Chip"/>
          <p:cNvSpPr/>
          <p:nvPr/>
        </p:nvSpPr>
        <p:spPr>
          <a:xfrm>
            <a:off x="609600" y="1645920"/>
            <a:ext cx="140208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2006</a:t>
            </a:r>
            <a:endParaRPr lang="en-US" sz="1867" dirty="0"/>
          </a:p>
        </p:txBody>
      </p:sp>
      <p:sp>
        <p:nvSpPr>
          <p:cNvPr id="4" name="Row card"/>
          <p:cNvSpPr/>
          <p:nvPr/>
        </p:nvSpPr>
        <p:spPr>
          <a:xfrm>
            <a:off x="2133600" y="1645920"/>
            <a:ext cx="487680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5" name="Text 3"/>
          <p:cNvSpPr txBox="1"/>
          <p:nvPr/>
        </p:nvSpPr>
        <p:spPr>
          <a:xfrm>
            <a:off x="2316480" y="1645920"/>
            <a:ext cx="4511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/>
              <a:t>Sun starts open-sourcing Java, releases java implantation code under JDK.</a:t>
            </a:r>
          </a:p>
        </p:txBody>
      </p:sp>
      <p:sp>
        <p:nvSpPr>
          <p:cNvPr id="6" name="Chip"/>
          <p:cNvSpPr/>
          <p:nvPr/>
        </p:nvSpPr>
        <p:spPr>
          <a:xfrm>
            <a:off x="609600" y="2743200"/>
            <a:ext cx="140208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2007</a:t>
            </a:r>
            <a:endParaRPr lang="en-US" sz="1867" dirty="0"/>
          </a:p>
        </p:txBody>
      </p:sp>
      <p:sp>
        <p:nvSpPr>
          <p:cNvPr id="7" name="Row card"/>
          <p:cNvSpPr/>
          <p:nvPr/>
        </p:nvSpPr>
        <p:spPr>
          <a:xfrm>
            <a:off x="2133600" y="2743200"/>
            <a:ext cx="487680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8" name="Text 6"/>
          <p:cNvSpPr txBox="1"/>
          <p:nvPr/>
        </p:nvSpPr>
        <p:spPr>
          <a:xfrm>
            <a:off x="2316480" y="2743200"/>
            <a:ext cx="4511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/>
              <a:t>A fully buildable OpenJDK implementation is released.</a:t>
            </a:r>
          </a:p>
        </p:txBody>
      </p:sp>
      <p:sp>
        <p:nvSpPr>
          <p:cNvPr id="9" name="Chip"/>
          <p:cNvSpPr/>
          <p:nvPr/>
        </p:nvSpPr>
        <p:spPr>
          <a:xfrm>
            <a:off x="609600" y="3840480"/>
            <a:ext cx="140208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2008</a:t>
            </a:r>
            <a:endParaRPr lang="en-US" sz="1867" dirty="0"/>
          </a:p>
        </p:txBody>
      </p:sp>
      <p:sp>
        <p:nvSpPr>
          <p:cNvPr id="10" name="Row card"/>
          <p:cNvSpPr/>
          <p:nvPr/>
        </p:nvSpPr>
        <p:spPr>
          <a:xfrm>
            <a:off x="2133600" y="3840480"/>
            <a:ext cx="487680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 txBox="1"/>
          <p:nvPr/>
        </p:nvSpPr>
        <p:spPr>
          <a:xfrm>
            <a:off x="2316480" y="3840480"/>
            <a:ext cx="4511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/>
              <a:t>Sun is under financial pressure and acquisition threat.</a:t>
            </a:r>
          </a:p>
        </p:txBody>
      </p:sp>
      <p:sp>
        <p:nvSpPr>
          <p:cNvPr id="12" name="Chip"/>
          <p:cNvSpPr/>
          <p:nvPr/>
        </p:nvSpPr>
        <p:spPr>
          <a:xfrm>
            <a:off x="609600" y="4937760"/>
            <a:ext cx="140208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2009 - 2010</a:t>
            </a:r>
            <a:endParaRPr lang="en-US" sz="1867" dirty="0"/>
          </a:p>
        </p:txBody>
      </p:sp>
      <p:sp>
        <p:nvSpPr>
          <p:cNvPr id="13" name="Row card"/>
          <p:cNvSpPr/>
          <p:nvPr/>
        </p:nvSpPr>
        <p:spPr>
          <a:xfrm>
            <a:off x="2133600" y="4937760"/>
            <a:ext cx="487680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4" name="Text 12"/>
          <p:cNvSpPr txBox="1"/>
          <p:nvPr/>
        </p:nvSpPr>
        <p:spPr>
          <a:xfrm>
            <a:off x="2316480" y="4937760"/>
            <a:ext cx="4511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/>
              <a:t>By 2009, Oracle comes to an agreement to acquire Sun for 7.4 billion dollars and completes the acquisition by Jan 2010.</a:t>
            </a:r>
          </a:p>
        </p:txBody>
      </p:sp>
      <p:sp>
        <p:nvSpPr>
          <p:cNvPr id="15" name="Governance card"/>
          <p:cNvSpPr/>
          <p:nvPr/>
        </p:nvSpPr>
        <p:spPr>
          <a:xfrm>
            <a:off x="7254240" y="1645920"/>
            <a:ext cx="4328160" cy="18288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6" name="Text 14"/>
          <p:cNvSpPr txBox="1"/>
          <p:nvPr/>
        </p:nvSpPr>
        <p:spPr>
          <a:xfrm>
            <a:off x="7437120" y="1645920"/>
            <a:ext cx="396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CA" sz="1867" dirty="0"/>
              <a:t>“The acquisition of Sun transforms the IT industry, combining best-in-class enterprise software and mission-critical computing systems”</a:t>
            </a:r>
          </a:p>
          <a:p>
            <a:pPr>
              <a:spcAft>
                <a:spcPts val="400"/>
              </a:spcAft>
            </a:pPr>
            <a:r>
              <a:rPr lang="en-CA" sz="1867" dirty="0"/>
              <a:t> Larry Ellison – CEO of Oracle</a:t>
            </a:r>
            <a:r>
              <a:rPr lang="en-US" sz="2133" dirty="0"/>
              <a:t> </a:t>
            </a:r>
            <a:endParaRPr lang="en-CA" sz="1867" dirty="0"/>
          </a:p>
        </p:txBody>
      </p:sp>
      <p:sp>
        <p:nvSpPr>
          <p:cNvPr id="17" name="Licensing card"/>
          <p:cNvSpPr/>
          <p:nvPr/>
        </p:nvSpPr>
        <p:spPr>
          <a:xfrm>
            <a:off x="7254240" y="3596640"/>
            <a:ext cx="4328160" cy="2499360"/>
          </a:xfrm>
          <a:prstGeom prst="roundRect">
            <a:avLst>
              <a:gd name="adj" fmla="val 390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8" name="Text 16"/>
          <p:cNvSpPr txBox="1"/>
          <p:nvPr/>
        </p:nvSpPr>
        <p:spPr>
          <a:xfrm>
            <a:off x="7437120" y="3596640"/>
            <a:ext cx="3962400" cy="24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67"/>
              </a:spcAft>
            </a:pPr>
            <a:r>
              <a:rPr lang="en-US" sz="2133" b="1" dirty="0">
                <a:solidFill>
                  <a:schemeClr val="accent3"/>
                </a:solidFill>
              </a:rPr>
              <a:t>What this meant for Java’s History?</a:t>
            </a:r>
            <a:endParaRPr lang="en-US" sz="21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chemeClr val="bg1"/>
                </a:solidFill>
              </a:rPr>
              <a:t>More investment on Java.</a:t>
            </a:r>
            <a:endParaRPr lang="en-US" sz="2133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chemeClr val="bg1"/>
                </a:solidFill>
              </a:rPr>
              <a:t>Better server infrastructure.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733" dirty="0">
                <a:solidFill>
                  <a:schemeClr val="bg1"/>
                </a:solidFill>
              </a:rPr>
              <a:t>Increased support of Java tools and platforms.</a:t>
            </a:r>
            <a:endParaRPr lang="en-US" sz="2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Oracle v. Google: Part I</a:t>
            </a:r>
          </a:p>
        </p:txBody>
      </p:sp>
      <p:sp>
        <p:nvSpPr>
          <p:cNvPr id="3" name="Explainer card"/>
          <p:cNvSpPr/>
          <p:nvPr/>
        </p:nvSpPr>
        <p:spPr>
          <a:xfrm>
            <a:off x="609600" y="1584960"/>
            <a:ext cx="5303520" cy="18897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Icon circle"/>
          <p:cNvSpPr/>
          <p:nvPr/>
        </p:nvSpPr>
        <p:spPr>
          <a:xfrm>
            <a:off x="85344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 sz="2400"/>
          </a:p>
        </p:txBody>
      </p:sp>
      <p:pic>
        <p:nvPicPr>
          <p:cNvPr id="5" name="Image 0" descr="Plu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84960"/>
            <a:ext cx="396240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2133" b="1" dirty="0"/>
              <a:t>What is an API?</a:t>
            </a:r>
            <a:endParaRPr lang="en-US" sz="2133" dirty="0"/>
          </a:p>
          <a:p>
            <a:pPr>
              <a:spcAft>
                <a:spcPts val="400"/>
              </a:spcAft>
            </a:pPr>
            <a:r>
              <a:rPr lang="en-US" sz="1733" dirty="0"/>
              <a:t>A collection of established rules that enables different software applications to communicate and exchange data with each other.</a:t>
            </a:r>
            <a:endParaRPr lang="en-US" sz="2133" dirty="0"/>
          </a:p>
        </p:txBody>
      </p:sp>
      <p:sp>
        <p:nvSpPr>
          <p:cNvPr id="7" name="Stakes card"/>
          <p:cNvSpPr/>
          <p:nvPr/>
        </p:nvSpPr>
        <p:spPr>
          <a:xfrm>
            <a:off x="6278880" y="1584960"/>
            <a:ext cx="5303520" cy="18897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8" name="Icon circle"/>
          <p:cNvSpPr/>
          <p:nvPr/>
        </p:nvSpPr>
        <p:spPr>
          <a:xfrm>
            <a:off x="652272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 sz="2400"/>
          </a:p>
        </p:txBody>
      </p:sp>
      <p:pic>
        <p:nvPicPr>
          <p:cNvPr id="9" name="Image 1" descr="BalanceSca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0" y="1584960"/>
            <a:ext cx="396240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2133" b="1" dirty="0"/>
              <a:t>What was at stake?</a:t>
            </a:r>
            <a:endParaRPr lang="en-US" sz="2133" dirty="0"/>
          </a:p>
          <a:p>
            <a:pPr>
              <a:spcAft>
                <a:spcPts val="400"/>
              </a:spcAft>
            </a:pPr>
            <a:r>
              <a:rPr lang="en-US" sz="1733" dirty="0"/>
              <a:t>Not just money but also the future of software development. Significant financial liability putting android’s future and developer freedom at risk.</a:t>
            </a:r>
            <a:endParaRPr lang="en-US" sz="2133" dirty="0"/>
          </a:p>
        </p:txBody>
      </p:sp>
      <p:sp>
        <p:nvSpPr>
          <p:cNvPr id="11" name="Timeline line"/>
          <p:cNvSpPr/>
          <p:nvPr/>
        </p:nvSpPr>
        <p:spPr>
          <a:xfrm>
            <a:off x="609600" y="4693920"/>
            <a:ext cx="109728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 txBox="1"/>
          <p:nvPr/>
        </p:nvSpPr>
        <p:spPr>
          <a:xfrm>
            <a:off x="60960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2010</a:t>
            </a:r>
            <a:endParaRPr lang="en-US" sz="2667" dirty="0"/>
          </a:p>
        </p:txBody>
      </p:sp>
      <p:sp>
        <p:nvSpPr>
          <p:cNvPr id="13" name="Timeline node"/>
          <p:cNvSpPr/>
          <p:nvPr/>
        </p:nvSpPr>
        <p:spPr>
          <a:xfrm>
            <a:off x="609600" y="448665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Text 10"/>
          <p:cNvSpPr txBox="1"/>
          <p:nvPr/>
        </p:nvSpPr>
        <p:spPr>
          <a:xfrm>
            <a:off x="609600" y="5059680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/>
              <a:t>Oracle sues Google over Android's use of Java. Claiming violation of Java’s copyright and foundation</a:t>
            </a:r>
          </a:p>
        </p:txBody>
      </p:sp>
      <p:sp>
        <p:nvSpPr>
          <p:cNvPr id="15" name="Text 11"/>
          <p:cNvSpPr txBox="1"/>
          <p:nvPr/>
        </p:nvSpPr>
        <p:spPr>
          <a:xfrm>
            <a:off x="341376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 2012</a:t>
            </a:r>
            <a:endParaRPr lang="en-US" sz="2667" dirty="0"/>
          </a:p>
        </p:txBody>
      </p:sp>
      <p:sp>
        <p:nvSpPr>
          <p:cNvPr id="16" name="Timeline node"/>
          <p:cNvSpPr/>
          <p:nvPr/>
        </p:nvSpPr>
        <p:spPr>
          <a:xfrm>
            <a:off x="3413760" y="448665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Text 13"/>
          <p:cNvSpPr txBox="1"/>
          <p:nvPr/>
        </p:nvSpPr>
        <p:spPr>
          <a:xfrm>
            <a:off x="3413760" y="5059680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/>
              <a:t>Federal court rules the Java APIs were not copyrightable.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621792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 2014</a:t>
            </a:r>
            <a:endParaRPr lang="en-US" sz="2667" dirty="0"/>
          </a:p>
        </p:txBody>
      </p:sp>
      <p:sp>
        <p:nvSpPr>
          <p:cNvPr id="19" name="Timeline node"/>
          <p:cNvSpPr/>
          <p:nvPr/>
        </p:nvSpPr>
        <p:spPr>
          <a:xfrm>
            <a:off x="6217920" y="448665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Text 16"/>
          <p:cNvSpPr txBox="1"/>
          <p:nvPr/>
        </p:nvSpPr>
        <p:spPr>
          <a:xfrm>
            <a:off x="6217920" y="5059680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/>
              <a:t>Oracle wins the appeal, claiming some Java APIs could receive protection.</a:t>
            </a:r>
          </a:p>
        </p:txBody>
      </p:sp>
      <p:sp>
        <p:nvSpPr>
          <p:cNvPr id="21" name="Text 17"/>
          <p:cNvSpPr txBox="1"/>
          <p:nvPr/>
        </p:nvSpPr>
        <p:spPr>
          <a:xfrm>
            <a:off x="902208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Jun 2015</a:t>
            </a:r>
            <a:endParaRPr lang="en-US" sz="2667" dirty="0"/>
          </a:p>
        </p:txBody>
      </p:sp>
      <p:sp>
        <p:nvSpPr>
          <p:cNvPr id="22" name="Timeline node"/>
          <p:cNvSpPr/>
          <p:nvPr/>
        </p:nvSpPr>
        <p:spPr>
          <a:xfrm>
            <a:off x="9022080" y="4486656"/>
            <a:ext cx="414528" cy="4145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19"/>
          <p:cNvSpPr txBox="1"/>
          <p:nvPr/>
        </p:nvSpPr>
        <p:spPr>
          <a:xfrm>
            <a:off x="9265920" y="5120639"/>
            <a:ext cx="256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/>
              <a:t>Supreme Court declines to review the case.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Oracle v. Google: Part II</a:t>
            </a:r>
          </a:p>
        </p:txBody>
      </p:sp>
      <p:sp>
        <p:nvSpPr>
          <p:cNvPr id="3" name="Chip"/>
          <p:cNvSpPr/>
          <p:nvPr/>
        </p:nvSpPr>
        <p:spPr>
          <a:xfrm>
            <a:off x="609600" y="1645920"/>
            <a:ext cx="158496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May 2016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Row card"/>
          <p:cNvSpPr/>
          <p:nvPr/>
        </p:nvSpPr>
        <p:spPr>
          <a:xfrm>
            <a:off x="2316480" y="1645920"/>
            <a:ext cx="469392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499360" y="1645920"/>
            <a:ext cx="43281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2B1D16"/>
                </a:solidFill>
                <a:latin typeface="Calibri"/>
              </a:rPr>
              <a:t>The jury finds Google's use of Java’s API to be under fair use. Oracle files for an appeal again.</a:t>
            </a:r>
          </a:p>
        </p:txBody>
      </p:sp>
      <p:sp>
        <p:nvSpPr>
          <p:cNvPr id="6" name="Chip"/>
          <p:cNvSpPr/>
          <p:nvPr/>
        </p:nvSpPr>
        <p:spPr>
          <a:xfrm>
            <a:off x="609600" y="2743200"/>
            <a:ext cx="158496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Mar 2018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Row card"/>
          <p:cNvSpPr/>
          <p:nvPr/>
        </p:nvSpPr>
        <p:spPr>
          <a:xfrm>
            <a:off x="2316480" y="2743200"/>
            <a:ext cx="469392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99360" y="2743200"/>
            <a:ext cx="43281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2B1D16"/>
                </a:solidFill>
                <a:latin typeface="Calibri"/>
              </a:rPr>
              <a:t>Oracle wins the appeal again. Google asks the supreme to court to review the case.</a:t>
            </a:r>
          </a:p>
        </p:txBody>
      </p:sp>
      <p:sp>
        <p:nvSpPr>
          <p:cNvPr id="9" name="Chip"/>
          <p:cNvSpPr/>
          <p:nvPr/>
        </p:nvSpPr>
        <p:spPr>
          <a:xfrm>
            <a:off x="609600" y="3840480"/>
            <a:ext cx="158496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Nov 2019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0" name="Row card"/>
          <p:cNvSpPr/>
          <p:nvPr/>
        </p:nvSpPr>
        <p:spPr>
          <a:xfrm>
            <a:off x="2316480" y="3840480"/>
            <a:ext cx="469392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499360" y="3840480"/>
            <a:ext cx="43281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2B1D16"/>
                </a:solidFill>
                <a:latin typeface="Calibri"/>
              </a:rPr>
              <a:t>The Supreme Court agrees to hear Google's appeal.</a:t>
            </a:r>
          </a:p>
        </p:txBody>
      </p:sp>
      <p:sp>
        <p:nvSpPr>
          <p:cNvPr id="12" name="Chip"/>
          <p:cNvSpPr/>
          <p:nvPr/>
        </p:nvSpPr>
        <p:spPr>
          <a:xfrm>
            <a:off x="609600" y="4937760"/>
            <a:ext cx="1584960" cy="9753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Apr 2021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3" name="Row card"/>
          <p:cNvSpPr/>
          <p:nvPr/>
        </p:nvSpPr>
        <p:spPr>
          <a:xfrm>
            <a:off x="2316480" y="4937760"/>
            <a:ext cx="4693920" cy="9753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499360" y="4937760"/>
            <a:ext cx="43281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2B1D16"/>
                </a:solidFill>
                <a:latin typeface="Calibri"/>
              </a:rPr>
              <a:t>The Supreme Court rules 6-2 in favor of Google. Making the use of API’s fair use under the United States copyright law.</a:t>
            </a:r>
          </a:p>
        </p:txBody>
      </p:sp>
      <p:sp>
        <p:nvSpPr>
          <p:cNvPr id="15" name="Ruling panel"/>
          <p:cNvSpPr/>
          <p:nvPr/>
        </p:nvSpPr>
        <p:spPr>
          <a:xfrm>
            <a:off x="7254240" y="1645920"/>
            <a:ext cx="4328160" cy="256032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98080" y="1767840"/>
            <a:ext cx="3840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53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437120" y="188555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667"/>
              </a:spcAft>
              <a:buSzPct val="100000"/>
              <a:buFontTx/>
              <a:buChar char="•"/>
            </a:pPr>
            <a:r>
              <a:rPr lang="en-US" sz="1733" dirty="0">
                <a:solidFill>
                  <a:srgbClr val="2B1D16"/>
                </a:solidFill>
                <a:latin typeface="Calibri"/>
              </a:rPr>
              <a:t>gtg</a:t>
            </a:r>
          </a:p>
        </p:txBody>
      </p:sp>
      <p:sp>
        <p:nvSpPr>
          <p:cNvPr id="18" name="Impact card"/>
          <p:cNvSpPr/>
          <p:nvPr/>
        </p:nvSpPr>
        <p:spPr>
          <a:xfrm>
            <a:off x="7254240" y="4328160"/>
            <a:ext cx="4328160" cy="176784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98080" y="4328160"/>
            <a:ext cx="384048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400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Why it mattered?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400"/>
              </a:spcAft>
            </a:pPr>
            <a:r>
              <a:rPr lang="en-US" sz="1733" dirty="0">
                <a:solidFill>
                  <a:srgbClr val="2B1D16"/>
                </a:solidFill>
                <a:latin typeface="Calibri"/>
              </a:rPr>
              <a:t>Because it shaped how fair use applied to software cases and how reusing interfaces for compatibility mattered.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9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How the language evolved after Oracle</a:t>
            </a:r>
          </a:p>
        </p:txBody>
      </p:sp>
      <p:sp>
        <p:nvSpPr>
          <p:cNvPr id="3" name="Chip"/>
          <p:cNvSpPr/>
          <p:nvPr/>
        </p:nvSpPr>
        <p:spPr>
          <a:xfrm>
            <a:off x="609600" y="1645920"/>
            <a:ext cx="2316480" cy="755904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Java 8 - 2014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Row card"/>
          <p:cNvSpPr/>
          <p:nvPr/>
        </p:nvSpPr>
        <p:spPr>
          <a:xfrm>
            <a:off x="3108960" y="1645920"/>
            <a:ext cx="8473440" cy="755904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291840" y="1645920"/>
            <a:ext cx="810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Lambda expressions and modern API made data processing easier. </a:t>
            </a:r>
          </a:p>
        </p:txBody>
      </p:sp>
      <p:sp>
        <p:nvSpPr>
          <p:cNvPr id="6" name="Chip"/>
          <p:cNvSpPr/>
          <p:nvPr/>
        </p:nvSpPr>
        <p:spPr>
          <a:xfrm>
            <a:off x="609600" y="2523744"/>
            <a:ext cx="2316480" cy="755904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Java 11 - 2018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Row card"/>
          <p:cNvSpPr/>
          <p:nvPr/>
        </p:nvSpPr>
        <p:spPr>
          <a:xfrm>
            <a:off x="3108960" y="2523744"/>
            <a:ext cx="8473440" cy="755904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91840" y="2523744"/>
            <a:ext cx="810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Long term support for businesses.</a:t>
            </a:r>
          </a:p>
        </p:txBody>
      </p:sp>
      <p:sp>
        <p:nvSpPr>
          <p:cNvPr id="9" name="Chip"/>
          <p:cNvSpPr/>
          <p:nvPr/>
        </p:nvSpPr>
        <p:spPr>
          <a:xfrm>
            <a:off x="609600" y="3401568"/>
            <a:ext cx="2316480" cy="755904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Java 17 - 2021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0" name="Row card"/>
          <p:cNvSpPr/>
          <p:nvPr/>
        </p:nvSpPr>
        <p:spPr>
          <a:xfrm>
            <a:off x="3108960" y="3401568"/>
            <a:ext cx="8473440" cy="755904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291840" y="3401568"/>
            <a:ext cx="810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Adds switch expressions and improved security.</a:t>
            </a:r>
          </a:p>
        </p:txBody>
      </p:sp>
      <p:sp>
        <p:nvSpPr>
          <p:cNvPr id="12" name="Chip"/>
          <p:cNvSpPr/>
          <p:nvPr/>
        </p:nvSpPr>
        <p:spPr>
          <a:xfrm>
            <a:off x="609600" y="4279392"/>
            <a:ext cx="2316480" cy="755904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Java 21 - 2023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3" name="Row card"/>
          <p:cNvSpPr/>
          <p:nvPr/>
        </p:nvSpPr>
        <p:spPr>
          <a:xfrm>
            <a:off x="3108960" y="4279392"/>
            <a:ext cx="8473440" cy="755904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291840" y="4279392"/>
            <a:ext cx="810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Virtual threads, records and pattern matching improved concurrency and data management.</a:t>
            </a:r>
          </a:p>
        </p:txBody>
      </p:sp>
      <p:sp>
        <p:nvSpPr>
          <p:cNvPr id="15" name="Chip"/>
          <p:cNvSpPr/>
          <p:nvPr/>
        </p:nvSpPr>
        <p:spPr>
          <a:xfrm>
            <a:off x="609600" y="5157216"/>
            <a:ext cx="2316480" cy="755904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Java 26 - 2026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6" name="Row card"/>
          <p:cNvSpPr/>
          <p:nvPr/>
        </p:nvSpPr>
        <p:spPr>
          <a:xfrm>
            <a:off x="3108960" y="5157216"/>
            <a:ext cx="8473440" cy="755904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291840" y="5157216"/>
            <a:ext cx="810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2B1D16"/>
                </a:solidFill>
                <a:latin typeface="Calibri"/>
              </a:rPr>
              <a:t>The newest LTS, updating features such HTTP/3, simpler language and performance.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10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The Future of Java</a:t>
            </a:r>
          </a:p>
        </p:txBody>
      </p:sp>
      <p:sp>
        <p:nvSpPr>
          <p:cNvPr id="3" name="Feature panel"/>
          <p:cNvSpPr/>
          <p:nvPr/>
        </p:nvSpPr>
        <p:spPr>
          <a:xfrm>
            <a:off x="609600" y="1706880"/>
            <a:ext cx="5120640" cy="42672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975360" y="195072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333" b="1" dirty="0">
                <a:solidFill>
                  <a:srgbClr val="FFFFFF"/>
                </a:solidFill>
                <a:latin typeface="Cambria"/>
                <a:ea typeface="Cambria"/>
                <a:cs typeface="+mj-lt" pitchFamily="34" charset="-120"/>
              </a:rPr>
              <a:t>JDK 28</a:t>
            </a:r>
            <a:endParaRPr lang="en-US" sz="53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75360" y="292608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8A13F"/>
                </a:solidFill>
                <a:latin typeface="Calibri"/>
              </a:rPr>
              <a:t>Expected March 2027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75360" y="3657600"/>
            <a:ext cx="438912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867" dirty="0">
                <a:solidFill>
                  <a:srgbClr val="FFFFFF"/>
                </a:solidFill>
                <a:latin typeface="Calibri"/>
              </a:rPr>
              <a:t>Project Valhalla: Led by Brian Goetz and wants to modernize java while increasing performance such as inlining data directly on enclosing layouts and minimizing memory footprints.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867" dirty="0">
                <a:solidFill>
                  <a:srgbClr val="FFFFFF"/>
                </a:solidFill>
                <a:latin typeface="Calibri"/>
              </a:rPr>
              <a:t>It is being praised for continued support even 25 years after release. </a:t>
            </a:r>
            <a:endParaRPr lang="en-US" sz="18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Feature card"/>
          <p:cNvSpPr/>
          <p:nvPr/>
        </p:nvSpPr>
        <p:spPr>
          <a:xfrm>
            <a:off x="6096000" y="1706880"/>
            <a:ext cx="5486400" cy="20116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Icon circle"/>
          <p:cNvSpPr/>
          <p:nvPr/>
        </p:nvSpPr>
        <p:spPr>
          <a:xfrm>
            <a:off x="6339840" y="2286000"/>
            <a:ext cx="853440" cy="853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pic>
        <p:nvPicPr>
          <p:cNvPr id="9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499360"/>
            <a:ext cx="426720" cy="4267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37120" y="1706880"/>
            <a:ext cx="396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400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OpenJDK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400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The community contributed a lot to the project and helping to expand.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1" name="Feature card"/>
          <p:cNvSpPr/>
          <p:nvPr/>
        </p:nvSpPr>
        <p:spPr>
          <a:xfrm>
            <a:off x="6096000" y="3962400"/>
            <a:ext cx="5486400" cy="20116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2" name="Icon circle"/>
          <p:cNvSpPr/>
          <p:nvPr/>
        </p:nvSpPr>
        <p:spPr>
          <a:xfrm>
            <a:off x="6339840" y="4541520"/>
            <a:ext cx="853440" cy="853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defTabSz="1219170"/>
            <a:endParaRPr lang="en-CA" sz="2400">
              <a:solidFill>
                <a:srgbClr val="2B1D16"/>
              </a:solidFill>
              <a:latin typeface="Calibri"/>
            </a:endParaRPr>
          </a:p>
        </p:txBody>
      </p:sp>
      <p:pic>
        <p:nvPicPr>
          <p:cNvPr id="13" name="Image 1" descr="Rocke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754880"/>
            <a:ext cx="426720" cy="4267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37120" y="3962400"/>
            <a:ext cx="396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400"/>
              </a:spcAft>
            </a:pPr>
            <a:r>
              <a:rPr lang="en-US" sz="2133" b="1" dirty="0">
                <a:solidFill>
                  <a:srgbClr val="2B1D16"/>
                </a:solidFill>
                <a:latin typeface="Calibri"/>
              </a:rPr>
              <a:t>Java 29 in September 2027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400"/>
              </a:spcAft>
            </a:pPr>
            <a:r>
              <a:rPr lang="en-US" sz="1867" dirty="0">
                <a:solidFill>
                  <a:srgbClr val="2B1D16"/>
                </a:solidFill>
                <a:latin typeface="Calibri"/>
              </a:rPr>
              <a:t>Next Planned LTS release.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11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Why Java over other languages?</a:t>
            </a:r>
          </a:p>
        </p:txBody>
      </p:sp>
      <p:sp>
        <p:nvSpPr>
          <p:cNvPr id="3" name="Number badge"/>
          <p:cNvSpPr/>
          <p:nvPr/>
        </p:nvSpPr>
        <p:spPr>
          <a:xfrm>
            <a:off x="609600" y="1706880"/>
            <a:ext cx="792480" cy="792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26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706880" y="1645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FFFFFF"/>
                </a:solidFill>
                <a:latin typeface="Calibri"/>
              </a:rPr>
              <a:t>Platform Independence: Java can run on different OS’s using a compatible JVM.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5" name="Number badge"/>
          <p:cNvSpPr/>
          <p:nvPr/>
        </p:nvSpPr>
        <p:spPr>
          <a:xfrm>
            <a:off x="609600" y="2804160"/>
            <a:ext cx="792480" cy="792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26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06880" y="2743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FFFFFF"/>
                </a:solidFill>
                <a:latin typeface="Calibri"/>
              </a:rPr>
              <a:t>Better security and performance: constant updates and language features makes the coding easier.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7" name="Number badge"/>
          <p:cNvSpPr/>
          <p:nvPr/>
        </p:nvSpPr>
        <p:spPr>
          <a:xfrm>
            <a:off x="609600" y="3901440"/>
            <a:ext cx="792480" cy="792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26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706880" y="3840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FFFFFF"/>
                </a:solidFill>
                <a:latin typeface="Calibri"/>
              </a:rPr>
              <a:t>Extensions and libraries: Using Java gives you access to mature libraries and frameworks.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9" name="Number badge"/>
          <p:cNvSpPr/>
          <p:nvPr/>
        </p:nvSpPr>
        <p:spPr>
          <a:xfrm>
            <a:off x="609600" y="4998720"/>
            <a:ext cx="792480" cy="792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2667" dirty="0">
              <a:solidFill>
                <a:srgbClr val="2B1D16"/>
              </a:solidFill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06880" y="4937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FFFFFF"/>
                </a:solidFill>
                <a:latin typeface="Calibri"/>
              </a:rPr>
              <a:t>Long Continued Support: Open-source development such as OpenJDK still exists and helps developers around the world to evolve java and help the community.</a:t>
            </a:r>
            <a:endParaRPr lang="en-US" sz="2133" dirty="0">
              <a:solidFill>
                <a:srgbClr val="2B1D1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09600" y="1584960"/>
            <a:ext cx="5303520" cy="463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CA" sz="1400" dirty="0"/>
              <a:t>Mahmoud, Q. H. (2002). </a:t>
            </a:r>
            <a:r>
              <a:rPr lang="en-CA" sz="1400" i="1" dirty="0"/>
              <a:t>Java introduction</a:t>
            </a:r>
            <a:r>
              <a:rPr lang="en-CA" sz="1400" dirty="0"/>
              <a:t>. University of Guelph.</a:t>
            </a:r>
          </a:p>
          <a:p>
            <a:pPr defTabSz="1219170">
              <a:spcAft>
                <a:spcPts val="800"/>
              </a:spcAft>
            </a:pPr>
            <a:r>
              <a:rPr lang="en-CA" sz="1400" dirty="0">
                <a:hlinkClick r:id="rId3"/>
              </a:rPr>
              <a:t>https://www.cis.uoguelph.ca/~qmahmoud/teaching/fall2004/dcct1020/java-intro.pdf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dirty="0"/>
              <a:t>Gosling, J., &amp; McGilton, H. (1996, May). </a:t>
            </a:r>
            <a:r>
              <a:rPr lang="en-CA" sz="1400" i="1" dirty="0"/>
              <a:t>The Java language environment: A white paper</a:t>
            </a:r>
            <a:r>
              <a:rPr lang="en-CA" sz="1400" dirty="0"/>
              <a:t>. Oracle. </a:t>
            </a:r>
            <a:r>
              <a:rPr lang="en-CA" sz="1400" dirty="0">
                <a:hlinkClick r:id="rId4"/>
              </a:rPr>
              <a:t>https://www.oracle.com/java/technologies/language-environment.html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dirty="0"/>
              <a:t>Oracle. (n.d.). Oracle Java SE support roadmap. Retrieved October 16, 2026, from </a:t>
            </a:r>
            <a:r>
              <a:rPr lang="en-CA" sz="1400" dirty="0">
                <a:hlinkClick r:id="rId5"/>
              </a:rPr>
              <a:t>https://www.oracle.com/java/technologies/java-se-support-roadmap.html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dirty="0"/>
              <a:t>Oracle. (2019). </a:t>
            </a:r>
            <a:r>
              <a:rPr lang="en-CA" sz="1400" i="1" dirty="0"/>
              <a:t>A brief history of Java</a:t>
            </a:r>
            <a:r>
              <a:rPr lang="en-CA" sz="1400" dirty="0"/>
              <a:t> [Infographic]. </a:t>
            </a:r>
            <a:r>
              <a:rPr lang="en-CA" sz="1400" dirty="0">
                <a:hlinkClick r:id="rId6"/>
              </a:rPr>
              <a:t>https://www.oracle.com/a/ocom/docs/dc/ww-brief-history-java-infographic.pdf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dirty="0"/>
              <a:t>Oracle. (2009, April 20). </a:t>
            </a:r>
            <a:r>
              <a:rPr lang="en-CA" sz="1400" i="1" dirty="0"/>
              <a:t>Oracle buys Sun</a:t>
            </a:r>
            <a:r>
              <a:rPr lang="en-CA" sz="1400" dirty="0"/>
              <a:t> [Press release]. </a:t>
            </a:r>
            <a:r>
              <a:rPr lang="en-CA" sz="1400" dirty="0">
                <a:hlinkClick r:id="rId7"/>
              </a:rPr>
              <a:t>https://www.oracle.com/corporate/pressrelease/oracle-buys-sun-042009.html</a:t>
            </a:r>
            <a:endParaRPr lang="en-CA" sz="1400" dirty="0"/>
          </a:p>
          <a:p>
            <a:pPr>
              <a:buNone/>
            </a:pPr>
            <a:r>
              <a:rPr lang="en-CA" sz="1400" dirty="0"/>
              <a:t>Behler, M. (2026, May 18). </a:t>
            </a:r>
            <a:r>
              <a:rPr lang="en-CA" sz="1400" i="1" dirty="0"/>
              <a:t>Java versions and features</a:t>
            </a:r>
            <a:r>
              <a:rPr lang="en-CA" sz="1400" dirty="0"/>
              <a:t>. </a:t>
            </a:r>
            <a:r>
              <a:rPr lang="en-CA" sz="1400" dirty="0">
                <a:hlinkClick r:id="rId8"/>
              </a:rPr>
              <a:t>https://www.marcobehler.com/guides/a-guide-to-java-versions-and-features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endParaRPr lang="en-CA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78880" y="1584960"/>
            <a:ext cx="5303520" cy="463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800"/>
              </a:spcAft>
            </a:pPr>
            <a:r>
              <a:rPr lang="en-CA" sz="1400" dirty="0"/>
              <a:t>Electronic Frontier Foundation. (2021, October 15). </a:t>
            </a:r>
            <a:r>
              <a:rPr lang="en-CA" sz="1400" i="1" dirty="0"/>
              <a:t>Oracle v. Google</a:t>
            </a:r>
            <a:r>
              <a:rPr lang="en-CA" sz="1400" dirty="0"/>
              <a:t>. </a:t>
            </a:r>
            <a:r>
              <a:rPr lang="en-CA" sz="1400" dirty="0">
                <a:hlinkClick r:id="rId9"/>
              </a:rPr>
              <a:t>https://www.eff.org//oracle-v-google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i="1" dirty="0"/>
              <a:t>Google LLC v. Oracle America, Inc.</a:t>
            </a:r>
            <a:r>
              <a:rPr lang="en-CA" sz="1400" dirty="0"/>
              <a:t>, 141 S. Ct. 1183 (2021). </a:t>
            </a:r>
            <a:r>
              <a:rPr lang="en-CA" sz="1400" dirty="0">
                <a:hlinkClick r:id="rId10"/>
              </a:rPr>
              <a:t>https://www.supremecourt.gov/opinions/20pdf/18-956_d18f.pdf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dirty="0"/>
              <a:t>Harvard Law Review. (2021, November 10). </a:t>
            </a:r>
            <a:r>
              <a:rPr lang="en-CA" sz="1400" i="1" dirty="0"/>
              <a:t>Google LLC v. Oracle America, Inc.</a:t>
            </a:r>
            <a:r>
              <a:rPr lang="en-CA" sz="1400" dirty="0"/>
              <a:t> </a:t>
            </a:r>
            <a:r>
              <a:rPr lang="en-CA" sz="1400" dirty="0">
                <a:hlinkClick r:id="rId11"/>
              </a:rPr>
              <a:t>https://harvardlawreview.org/print/vol-135/google-llc-v-oracle-america-inc/</a:t>
            </a:r>
            <a:endParaRPr lang="en-US" sz="1333" dirty="0">
              <a:solidFill>
                <a:srgbClr val="2B1D16"/>
              </a:solidFill>
              <a:latin typeface="Calibri"/>
            </a:endParaRPr>
          </a:p>
          <a:p>
            <a:pPr defTabSz="1219170">
              <a:spcAft>
                <a:spcPts val="800"/>
              </a:spcAft>
            </a:pPr>
            <a:r>
              <a:rPr lang="en-CA" sz="1400" dirty="0"/>
              <a:t>Oracle. (2026, September 15). </a:t>
            </a:r>
            <a:r>
              <a:rPr lang="en-CA" sz="1400" i="1" dirty="0"/>
              <a:t>Oracle releases Java 27 and strengthens post-quantum cryptography support</a:t>
            </a:r>
            <a:r>
              <a:rPr lang="en-CA" sz="1400" dirty="0"/>
              <a:t>. </a:t>
            </a:r>
            <a:r>
              <a:rPr lang="en-CA" sz="1400" dirty="0">
                <a:hlinkClick r:id="rId12"/>
              </a:rPr>
              <a:t>https://www.oracle.com/nl/news/announcement/oracle-releases-java-27-and-strengthens-post-quantum-cryptography-support-2026-09-15/</a:t>
            </a:r>
            <a:endParaRPr lang="en-CA" sz="1400" dirty="0"/>
          </a:p>
          <a:p>
            <a:pPr defTabSz="1219170">
              <a:spcAft>
                <a:spcPts val="800"/>
              </a:spcAft>
            </a:pPr>
            <a:r>
              <a:rPr lang="en-CA" sz="1400" dirty="0"/>
              <a:t>Redlich, M. (2026, March 2). </a:t>
            </a:r>
            <a:r>
              <a:rPr lang="en-CA" sz="1400" i="1" dirty="0"/>
              <a:t>Java news roundup: Lazy constants, </a:t>
            </a:r>
            <a:r>
              <a:rPr lang="en-CA" sz="1400" i="1" dirty="0" err="1"/>
              <a:t>TornadoVM</a:t>
            </a:r>
            <a:r>
              <a:rPr lang="en-CA" sz="1400" i="1" dirty="0"/>
              <a:t> 3.0, NetBeans 29, </a:t>
            </a:r>
            <a:r>
              <a:rPr lang="en-CA" sz="1400" i="1" dirty="0" err="1"/>
              <a:t>Quarkus</a:t>
            </a:r>
            <a:r>
              <a:rPr lang="en-CA" sz="1400" i="1" dirty="0"/>
              <a:t>, </a:t>
            </a:r>
            <a:r>
              <a:rPr lang="en-CA" sz="1400" i="1" dirty="0" err="1"/>
              <a:t>JReleaser</a:t>
            </a:r>
            <a:r>
              <a:rPr lang="en-CA" sz="1400" i="1" dirty="0"/>
              <a:t>, Open Liberty</a:t>
            </a:r>
            <a:r>
              <a:rPr lang="en-CA" sz="1400" dirty="0"/>
              <a:t>. </a:t>
            </a:r>
            <a:r>
              <a:rPr lang="en-CA" sz="1400" dirty="0" err="1"/>
              <a:t>InfoQ</a:t>
            </a:r>
            <a:r>
              <a:rPr lang="en-CA" sz="1400" dirty="0"/>
              <a:t>. </a:t>
            </a:r>
            <a:r>
              <a:rPr lang="en-CA" sz="1400" dirty="0">
                <a:hlinkClick r:id="rId13"/>
              </a:rPr>
              <a:t>https://www.infoq.com/news/2026/03/java-news-roundup-feb23-2026/</a:t>
            </a:r>
            <a:endParaRPr lang="en-CA" sz="1400" dirty="0"/>
          </a:p>
          <a:p>
            <a:pPr>
              <a:buNone/>
            </a:pPr>
            <a:r>
              <a:rPr lang="en-CA" sz="1400" dirty="0"/>
              <a:t>Smith, D. (n.d.). </a:t>
            </a:r>
            <a:r>
              <a:rPr lang="en-CA" sz="1400" i="1" dirty="0"/>
              <a:t>JEP 401: Value classes and objects (Preview).</a:t>
            </a:r>
            <a:r>
              <a:rPr lang="en-CA" sz="1400" dirty="0"/>
              <a:t> OpenJDK. </a:t>
            </a:r>
            <a:r>
              <a:rPr lang="en-CA" sz="1400" dirty="0">
                <a:hlinkClick r:id="rId14"/>
              </a:rPr>
              <a:t>https://openjdk.org/jeps/401</a:t>
            </a:r>
            <a:endParaRPr lang="en-C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solidFill>
                  <a:srgbClr val="5B3A29"/>
                </a:solidFill>
                <a:latin typeface="Calibri"/>
              </a:rPr>
              <a:pPr defTabSz="1219170"/>
              <a:t>13</a:t>
            </a:fld>
            <a:endParaRPr lang="en-US">
              <a:solidFill>
                <a:srgbClr val="5B3A29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Roast">
  <a:themeElements>
    <a:clrScheme name="Java Roast">
      <a:dk1>
        <a:srgbClr val="2B1D16"/>
      </a:dk1>
      <a:lt1>
        <a:srgbClr val="FFFFFF"/>
      </a:lt1>
      <a:dk2>
        <a:srgbClr val="5B3A29"/>
      </a:dk2>
      <a:lt2>
        <a:srgbClr val="F2F4F7"/>
      </a:lt2>
      <a:accent1>
        <a:srgbClr val="C95A00"/>
      </a:accent1>
      <a:accent2>
        <a:srgbClr val="5382A1"/>
      </a:accent2>
      <a:accent3>
        <a:srgbClr val="F8A13F"/>
      </a:accent3>
      <a:accent4>
        <a:srgbClr val="8C5A3C"/>
      </a:accent4>
      <a:accent5>
        <a:srgbClr val="2E7D6B"/>
      </a:accent5>
      <a:accent6>
        <a:srgbClr val="B23A48"/>
      </a:accent6>
      <a:hlink>
        <a:srgbClr val="5382A1"/>
      </a:hlink>
      <a:folHlink>
        <a:srgbClr val="8C5A3C"/>
      </a:folHlink>
    </a:clrScheme>
    <a:fontScheme name="Java Ro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1471</Words>
  <Application>Microsoft Office PowerPoint</Application>
  <PresentationFormat>Widescreen</PresentationFormat>
  <Paragraphs>177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Java Roast</vt:lpstr>
      <vt:lpstr>The History and Evolution of Java</vt:lpstr>
      <vt:lpstr>Java: A Brief Overview</vt:lpstr>
      <vt:lpstr>Timeline: The Green Project</vt:lpstr>
      <vt:lpstr>How Java Code Runs? </vt:lpstr>
      <vt:lpstr>Java Code Example</vt:lpstr>
      <vt:lpstr>Early milestones, 1996-2014</vt:lpstr>
      <vt:lpstr>Java’s Change of Ownership “The Oracle Era”</vt:lpstr>
      <vt:lpstr>Oracle v. Google: Part I</vt:lpstr>
      <vt:lpstr>Oracle v. Google: Part II</vt:lpstr>
      <vt:lpstr>How the language evolved after Oracle</vt:lpstr>
      <vt:lpstr>The Future of Java</vt:lpstr>
      <vt:lpstr>Why Java over other languages?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Khazaeli</dc:creator>
  <cp:lastModifiedBy>Mohammad Khazaeli</cp:lastModifiedBy>
  <cp:revision>3</cp:revision>
  <dcterms:created xsi:type="dcterms:W3CDTF">2026-10-16T09:11:05Z</dcterms:created>
  <dcterms:modified xsi:type="dcterms:W3CDTF">2026-10-17T00:06:26Z</dcterms:modified>
</cp:coreProperties>
</file>